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25"/>
  </p:notesMasterIdLst>
  <p:sldIdLst>
    <p:sldId id="256" r:id="rId5"/>
    <p:sldId id="257" r:id="rId6"/>
    <p:sldId id="258" r:id="rId7"/>
    <p:sldId id="259" r:id="rId8"/>
    <p:sldId id="260" r:id="rId9"/>
    <p:sldId id="261" r:id="rId10"/>
    <p:sldId id="262" r:id="rId11"/>
    <p:sldId id="263" r:id="rId12"/>
    <p:sldId id="270" r:id="rId13"/>
    <p:sldId id="271" r:id="rId14"/>
    <p:sldId id="272" r:id="rId15"/>
    <p:sldId id="273" r:id="rId16"/>
    <p:sldId id="274" r:id="rId17"/>
    <p:sldId id="275" r:id="rId18"/>
    <p:sldId id="264" r:id="rId19"/>
    <p:sldId id="265" r:id="rId20"/>
    <p:sldId id="266" r:id="rId21"/>
    <p:sldId id="267" r:id="rId22"/>
    <p:sldId id="268" r:id="rId23"/>
    <p:sldId id="269" r:id="rId24"/>
  </p:sldIdLst>
  <p:sldSz cx="12192000" cy="6858000"/>
  <p:notesSz cx="6858000" cy="9144000"/>
  <p:embeddedFontLst>
    <p:embeddedFont>
      <p:font typeface="Century Gothic" panose="020B0502020202020204" pitchFamily="34" charset="0"/>
      <p:regular r:id="rId26"/>
      <p:bold r:id="rId27"/>
      <p:italic r:id="rId28"/>
      <p:boldItalic r:id="rId29"/>
    </p:embeddedFont>
  </p:embeddedFontLst>
  <p:custDataLst>
    <p:tags r:id="rId30"/>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1" roundtripDataSignature="AMtx7mhlYlCtF+airiOZksSy3UV5ad0gh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02198C4-3087-4945-87E3-76CBB3509B7E}">
  <a:tblStyle styleId="{802198C4-3087-4945-87E3-76CBB3509B7E}"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8" d="100"/>
          <a:sy n="48" d="100"/>
        </p:scale>
        <p:origin x="53" y="70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1.fntdata"/><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4.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font" Target="fonts/font3.fntdata"/><Relationship Id="rId36"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31" Type="http://customschemas.google.com/relationships/presentationmetadata" Target="meta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font" Target="fonts/font2.fntdata"/><Relationship Id="rId30" Type="http://schemas.openxmlformats.org/officeDocument/2006/relationships/tags" Target="tags/tag1.xml"/><Relationship Id="rId35" Type="http://schemas.openxmlformats.org/officeDocument/2006/relationships/tableStyles" Target="tableStyles.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untel Hall" userId="3ff7b206a90c6477" providerId="LiveId" clId="{9E40C404-2D0A-4E00-A2B3-1ADEAB8412FB}"/>
    <pc:docChg chg="modSld">
      <pc:chgData name="Shauntel Hall" userId="3ff7b206a90c6477" providerId="LiveId" clId="{9E40C404-2D0A-4E00-A2B3-1ADEAB8412FB}" dt="2026-02-20T00:26:47.497" v="4" actId="20577"/>
      <pc:docMkLst>
        <pc:docMk/>
      </pc:docMkLst>
      <pc:sldChg chg="modSp mod">
        <pc:chgData name="Shauntel Hall" userId="3ff7b206a90c6477" providerId="LiveId" clId="{9E40C404-2D0A-4E00-A2B3-1ADEAB8412FB}" dt="2026-02-20T00:26:47.497" v="4" actId="20577"/>
        <pc:sldMkLst>
          <pc:docMk/>
          <pc:sldMk cId="0" sldId="263"/>
        </pc:sldMkLst>
        <pc:spChg chg="mod">
          <ac:chgData name="Shauntel Hall" userId="3ff7b206a90c6477" providerId="LiveId" clId="{9E40C404-2D0A-4E00-A2B3-1ADEAB8412FB}" dt="2026-02-20T00:26:47.497" v="4" actId="20577"/>
          <ac:spMkLst>
            <pc:docMk/>
            <pc:sldMk cId="0" sldId="263"/>
            <ac:spMk id="19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63919653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9" name="Google Shape;14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7" name="Google Shape;15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5" name="Google Shape;16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2" name="Google Shape;17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9" name="Google Shape;17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6" name="Google Shape;186;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9504e2950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0" name="Google Shape;20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7" name="Google Shape;207;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4" name="Google Shape;214;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1" name="Google Shape;22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8" name="Google Shape;228;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5" name="Google Shape;235;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
        <p:cNvGrpSpPr/>
        <p:nvPr/>
      </p:nvGrpSpPr>
      <p:grpSpPr>
        <a:xfrm>
          <a:off x="0" y="0"/>
          <a:ext cx="0" cy="0"/>
          <a:chOff x="0" y="0"/>
          <a:chExt cx="0" cy="0"/>
        </a:xfrm>
      </p:grpSpPr>
      <p:pic>
        <p:nvPicPr>
          <p:cNvPr id="13" name="Google Shape;13;p1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4" name="Google Shape;14;p16"/>
          <p:cNvSpPr txBox="1">
            <a:spLocks noGrp="1"/>
          </p:cNvSpPr>
          <p:nvPr>
            <p:ph type="ctrTitle"/>
          </p:nvPr>
        </p:nvSpPr>
        <p:spPr>
          <a:xfrm>
            <a:off x="1371600" y="1803405"/>
            <a:ext cx="9448800" cy="182509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6000"/>
              <a:buFont typeface="Century Gothic"/>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16"/>
          <p:cNvSpPr txBox="1">
            <a:spLocks noGrp="1"/>
          </p:cNvSpPr>
          <p:nvPr>
            <p:ph type="subTitle" idx="1"/>
          </p:nvPr>
        </p:nvSpPr>
        <p:spPr>
          <a:xfrm>
            <a:off x="1371600" y="3632201"/>
            <a:ext cx="9448800" cy="6858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2000"/>
              <a:buNone/>
              <a:defRPr sz="20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a:endParaRPr/>
          </a:p>
        </p:txBody>
      </p:sp>
      <p:sp>
        <p:nvSpPr>
          <p:cNvPr id="16" name="Google Shape;16;p16"/>
          <p:cNvSpPr txBox="1">
            <a:spLocks noGrp="1"/>
          </p:cNvSpPr>
          <p:nvPr>
            <p:ph type="dt" idx="10"/>
          </p:nvPr>
        </p:nvSpPr>
        <p:spPr>
          <a:xfrm>
            <a:off x="7909561" y="4314328"/>
            <a:ext cx="2910840" cy="374642"/>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6"/>
          <p:cNvSpPr txBox="1">
            <a:spLocks noGrp="1"/>
          </p:cNvSpPr>
          <p:nvPr>
            <p:ph type="ftr" idx="11"/>
          </p:nvPr>
        </p:nvSpPr>
        <p:spPr>
          <a:xfrm>
            <a:off x="1371600" y="4323845"/>
            <a:ext cx="6400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16"/>
          <p:cNvSpPr txBox="1">
            <a:spLocks noGrp="1"/>
          </p:cNvSpPr>
          <p:nvPr>
            <p:ph type="sldNum" idx="12"/>
          </p:nvPr>
        </p:nvSpPr>
        <p:spPr>
          <a:xfrm>
            <a:off x="8077200" y="1430866"/>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1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7"/>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2" name="Google Shape;22;p17"/>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7"/>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7"/>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25"/>
        <p:cNvGrpSpPr/>
        <p:nvPr/>
      </p:nvGrpSpPr>
      <p:grpSpPr>
        <a:xfrm>
          <a:off x="0" y="0"/>
          <a:ext cx="0" cy="0"/>
          <a:chOff x="0" y="0"/>
          <a:chExt cx="0" cy="0"/>
        </a:xfrm>
      </p:grpSpPr>
      <p:pic>
        <p:nvPicPr>
          <p:cNvPr id="26" name="Google Shape;26;p1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27" name="Google Shape;27;p18"/>
          <p:cNvSpPr txBox="1">
            <a:spLocks noGrp="1"/>
          </p:cNvSpPr>
          <p:nvPr>
            <p:ph type="title"/>
          </p:nvPr>
        </p:nvSpPr>
        <p:spPr>
          <a:xfrm>
            <a:off x="685800" y="753533"/>
            <a:ext cx="10820399" cy="2801935"/>
          </a:xfrm>
          <a:prstGeom prst="rect">
            <a:avLst/>
          </a:prstGeom>
          <a:noFill/>
          <a:ln>
            <a:noFill/>
          </a:ln>
        </p:spPr>
        <p:txBody>
          <a:bodyPr spcFirstLastPara="1" wrap="square" lIns="91425" tIns="45700" rIns="91425" bIns="45700" anchor="b" anchorCtr="0">
            <a:normAutofit/>
          </a:bodyPr>
          <a:lstStyle>
            <a:lvl1pPr lvl="0" algn="r">
              <a:lnSpc>
                <a:spcPct val="90000"/>
              </a:lnSpc>
              <a:spcBef>
                <a:spcPts val="0"/>
              </a:spcBef>
              <a:spcAft>
                <a:spcPts val="0"/>
              </a:spcAft>
              <a:buClr>
                <a:schemeClr val="lt1"/>
              </a:buClr>
              <a:buSzPts val="4000"/>
              <a:buFont typeface="Century Gothic"/>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8"/>
          <p:cNvSpPr txBox="1">
            <a:spLocks noGrp="1"/>
          </p:cNvSpPr>
          <p:nvPr>
            <p:ph type="body" idx="1"/>
          </p:nvPr>
        </p:nvSpPr>
        <p:spPr>
          <a:xfrm>
            <a:off x="1024467" y="3641725"/>
            <a:ext cx="10490200" cy="955675"/>
          </a:xfrm>
          <a:prstGeom prst="rect">
            <a:avLst/>
          </a:prstGeom>
          <a:noFill/>
          <a:ln>
            <a:noFill/>
          </a:ln>
        </p:spPr>
        <p:txBody>
          <a:bodyPr spcFirstLastPara="1" wrap="square" lIns="91425" tIns="45700" rIns="91425" bIns="45700" anchor="t" anchorCtr="0">
            <a:normAutofit/>
          </a:bodyPr>
          <a:lstStyle>
            <a:lvl1pPr marL="457200" lvl="0" indent="-228600" algn="r">
              <a:lnSpc>
                <a:spcPct val="90000"/>
              </a:lnSpc>
              <a:spcBef>
                <a:spcPts val="1000"/>
              </a:spcBef>
              <a:spcAft>
                <a:spcPts val="0"/>
              </a:spcAft>
              <a:buClr>
                <a:schemeClr val="lt1"/>
              </a:buClr>
              <a:buSzPts val="2200"/>
              <a:buNone/>
              <a:defRPr sz="2200">
                <a:solidFill>
                  <a:schemeClr val="lt1"/>
                </a:solidFill>
              </a:defRPr>
            </a:lvl1pPr>
            <a:lvl2pPr marL="914400" lvl="1" indent="-228600" algn="l">
              <a:lnSpc>
                <a:spcPct val="90000"/>
              </a:lnSpc>
              <a:spcBef>
                <a:spcPts val="500"/>
              </a:spcBef>
              <a:spcAft>
                <a:spcPts val="0"/>
              </a:spcAft>
              <a:buClr>
                <a:schemeClr val="lt1"/>
              </a:buClr>
              <a:buSzPts val="2000"/>
              <a:buNone/>
              <a:defRPr sz="2000">
                <a:solidFill>
                  <a:schemeClr val="lt1"/>
                </a:solidFill>
              </a:defRPr>
            </a:lvl2pPr>
            <a:lvl3pPr marL="1371600" lvl="2" indent="-228600" algn="l">
              <a:lnSpc>
                <a:spcPct val="90000"/>
              </a:lnSpc>
              <a:spcBef>
                <a:spcPts val="500"/>
              </a:spcBef>
              <a:spcAft>
                <a:spcPts val="0"/>
              </a:spcAft>
              <a:buClr>
                <a:schemeClr val="lt1"/>
              </a:buClr>
              <a:buSzPts val="1800"/>
              <a:buNone/>
              <a:defRPr sz="1800">
                <a:solidFill>
                  <a:schemeClr val="lt1"/>
                </a:solidFill>
              </a:defRPr>
            </a:lvl3pPr>
            <a:lvl4pPr marL="1828800" lvl="3" indent="-228600" algn="l">
              <a:lnSpc>
                <a:spcPct val="90000"/>
              </a:lnSpc>
              <a:spcBef>
                <a:spcPts val="500"/>
              </a:spcBef>
              <a:spcAft>
                <a:spcPts val="0"/>
              </a:spcAft>
              <a:buClr>
                <a:schemeClr val="lt1"/>
              </a:buClr>
              <a:buSzPts val="1600"/>
              <a:buNone/>
              <a:defRPr sz="1600">
                <a:solidFill>
                  <a:schemeClr val="lt1"/>
                </a:solidFill>
              </a:defRPr>
            </a:lvl4pPr>
            <a:lvl5pPr marL="2286000" lvl="4" indent="-228600" algn="l">
              <a:lnSpc>
                <a:spcPct val="90000"/>
              </a:lnSpc>
              <a:spcBef>
                <a:spcPts val="500"/>
              </a:spcBef>
              <a:spcAft>
                <a:spcPts val="0"/>
              </a:spcAft>
              <a:buClr>
                <a:schemeClr val="lt1"/>
              </a:buClr>
              <a:buSzPts val="1600"/>
              <a:buNone/>
              <a:defRPr sz="1600">
                <a:solidFill>
                  <a:schemeClr val="lt1"/>
                </a:solidFill>
              </a:defRPr>
            </a:lvl5pPr>
            <a:lvl6pPr marL="2743200" lvl="5" indent="-228600" algn="l">
              <a:lnSpc>
                <a:spcPct val="90000"/>
              </a:lnSpc>
              <a:spcBef>
                <a:spcPts val="500"/>
              </a:spcBef>
              <a:spcAft>
                <a:spcPts val="0"/>
              </a:spcAft>
              <a:buClr>
                <a:schemeClr val="lt1"/>
              </a:buClr>
              <a:buSzPts val="1600"/>
              <a:buNone/>
              <a:defRPr sz="1600">
                <a:solidFill>
                  <a:schemeClr val="lt1"/>
                </a:solidFill>
              </a:defRPr>
            </a:lvl6pPr>
            <a:lvl7pPr marL="3200400" lvl="6" indent="-228600" algn="l">
              <a:lnSpc>
                <a:spcPct val="90000"/>
              </a:lnSpc>
              <a:spcBef>
                <a:spcPts val="500"/>
              </a:spcBef>
              <a:spcAft>
                <a:spcPts val="0"/>
              </a:spcAft>
              <a:buClr>
                <a:schemeClr val="lt1"/>
              </a:buClr>
              <a:buSzPts val="1600"/>
              <a:buNone/>
              <a:defRPr sz="1600">
                <a:solidFill>
                  <a:schemeClr val="lt1"/>
                </a:solidFill>
              </a:defRPr>
            </a:lvl7pPr>
            <a:lvl8pPr marL="3657600" lvl="7" indent="-228600" algn="l">
              <a:lnSpc>
                <a:spcPct val="90000"/>
              </a:lnSpc>
              <a:spcBef>
                <a:spcPts val="500"/>
              </a:spcBef>
              <a:spcAft>
                <a:spcPts val="0"/>
              </a:spcAft>
              <a:buClr>
                <a:schemeClr val="lt1"/>
              </a:buClr>
              <a:buSzPts val="1600"/>
              <a:buNone/>
              <a:defRPr sz="1600">
                <a:solidFill>
                  <a:schemeClr val="lt1"/>
                </a:solidFill>
              </a:defRPr>
            </a:lvl8pPr>
            <a:lvl9pPr marL="4114800" lvl="8" indent="-228600" algn="l">
              <a:lnSpc>
                <a:spcPct val="90000"/>
              </a:lnSpc>
              <a:spcBef>
                <a:spcPts val="500"/>
              </a:spcBef>
              <a:spcAft>
                <a:spcPts val="0"/>
              </a:spcAft>
              <a:buClr>
                <a:schemeClr val="lt1"/>
              </a:buClr>
              <a:buSzPts val="1600"/>
              <a:buNone/>
              <a:defRPr sz="1600">
                <a:solidFill>
                  <a:schemeClr val="lt1"/>
                </a:solidFill>
              </a:defRPr>
            </a:lvl9pPr>
          </a:lstStyle>
          <a:p>
            <a:endParaRPr/>
          </a:p>
        </p:txBody>
      </p:sp>
      <p:sp>
        <p:nvSpPr>
          <p:cNvPr id="29" name="Google Shape;29;p18"/>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8"/>
          <p:cNvSpPr txBox="1">
            <a:spLocks noGrp="1"/>
          </p:cNvSpPr>
          <p:nvPr>
            <p:ph type="ftr" idx="11"/>
          </p:nvPr>
        </p:nvSpPr>
        <p:spPr>
          <a:xfrm>
            <a:off x="685800" y="381001"/>
            <a:ext cx="6991492" cy="36406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2"/>
        <p:cNvGrpSpPr/>
        <p:nvPr/>
      </p:nvGrpSpPr>
      <p:grpSpPr>
        <a:xfrm>
          <a:off x="0" y="0"/>
          <a:ext cx="0" cy="0"/>
          <a:chOff x="0" y="0"/>
          <a:chExt cx="0" cy="0"/>
        </a:xfrm>
      </p:grpSpPr>
      <p:sp>
        <p:nvSpPr>
          <p:cNvPr id="33" name="Google Shape;33;p1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9"/>
          <p:cNvSpPr txBox="1">
            <a:spLocks noGrp="1"/>
          </p:cNvSpPr>
          <p:nvPr>
            <p:ph type="body" idx="1"/>
          </p:nvPr>
        </p:nvSpPr>
        <p:spPr>
          <a:xfrm>
            <a:off x="6858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5" name="Google Shape;35;p19"/>
          <p:cNvSpPr txBox="1">
            <a:spLocks noGrp="1"/>
          </p:cNvSpPr>
          <p:nvPr>
            <p:ph type="body" idx="2"/>
          </p:nvPr>
        </p:nvSpPr>
        <p:spPr>
          <a:xfrm>
            <a:off x="61722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6" name="Google Shape;36;p1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9"/>
        <p:cNvGrpSpPr/>
        <p:nvPr/>
      </p:nvGrpSpPr>
      <p:grpSpPr>
        <a:xfrm>
          <a:off x="0" y="0"/>
          <a:ext cx="0" cy="0"/>
          <a:chOff x="0" y="0"/>
          <a:chExt cx="0" cy="0"/>
        </a:xfrm>
      </p:grpSpPr>
      <p:sp>
        <p:nvSpPr>
          <p:cNvPr id="40" name="Google Shape;40;p20"/>
          <p:cNvSpPr txBox="1">
            <a:spLocks noGrp="1"/>
          </p:cNvSpPr>
          <p:nvPr>
            <p:ph type="title"/>
          </p:nvPr>
        </p:nvSpPr>
        <p:spPr>
          <a:xfrm>
            <a:off x="2895600" y="762000"/>
            <a:ext cx="8610600"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0"/>
          <p:cNvSpPr txBox="1">
            <a:spLocks noGrp="1"/>
          </p:cNvSpPr>
          <p:nvPr>
            <p:ph type="body" idx="1"/>
          </p:nvPr>
        </p:nvSpPr>
        <p:spPr>
          <a:xfrm>
            <a:off x="914409" y="2183802"/>
            <a:ext cx="50799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2" name="Google Shape;42;p20"/>
          <p:cNvSpPr txBox="1">
            <a:spLocks noGrp="1"/>
          </p:cNvSpPr>
          <p:nvPr>
            <p:ph type="body" idx="2"/>
          </p:nvPr>
        </p:nvSpPr>
        <p:spPr>
          <a:xfrm>
            <a:off x="685800" y="3132666"/>
            <a:ext cx="5311775"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3" name="Google Shape;43;p20"/>
          <p:cNvSpPr txBox="1">
            <a:spLocks noGrp="1"/>
          </p:cNvSpPr>
          <p:nvPr>
            <p:ph type="body" idx="3"/>
          </p:nvPr>
        </p:nvSpPr>
        <p:spPr>
          <a:xfrm>
            <a:off x="6400800" y="2183802"/>
            <a:ext cx="510540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4" name="Google Shape;44;p20"/>
          <p:cNvSpPr txBox="1">
            <a:spLocks noGrp="1"/>
          </p:cNvSpPr>
          <p:nvPr>
            <p:ph type="body" idx="4"/>
          </p:nvPr>
        </p:nvSpPr>
        <p:spPr>
          <a:xfrm>
            <a:off x="6172200" y="3132666"/>
            <a:ext cx="5334000"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5" name="Google Shape;45;p2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8"/>
        <p:cNvGrpSpPr/>
        <p:nvPr/>
      </p:nvGrpSpPr>
      <p:grpSpPr>
        <a:xfrm>
          <a:off x="0" y="0"/>
          <a:ext cx="0" cy="0"/>
          <a:chOff x="0" y="0"/>
          <a:chExt cx="0" cy="0"/>
        </a:xfrm>
      </p:grpSpPr>
      <p:sp>
        <p:nvSpPr>
          <p:cNvPr id="49" name="Google Shape;49;p2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22"/>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22"/>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2"/>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23"/>
          <p:cNvSpPr txBox="1">
            <a:spLocks noGrp="1"/>
          </p:cNvSpPr>
          <p:nvPr>
            <p:ph type="title"/>
          </p:nvPr>
        </p:nvSpPr>
        <p:spPr>
          <a:xfrm>
            <a:off x="685800" y="1524000"/>
            <a:ext cx="41148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3"/>
          <p:cNvSpPr txBox="1">
            <a:spLocks noGrp="1"/>
          </p:cNvSpPr>
          <p:nvPr>
            <p:ph type="body" idx="1"/>
          </p:nvPr>
        </p:nvSpPr>
        <p:spPr>
          <a:xfrm>
            <a:off x="4995582" y="746759"/>
            <a:ext cx="6510618" cy="5471925"/>
          </a:xfrm>
          <a:prstGeom prst="rect">
            <a:avLst/>
          </a:prstGeom>
          <a:noFill/>
          <a:ln>
            <a:noFill/>
          </a:ln>
        </p:spPr>
        <p:txBody>
          <a:bodyPr spcFirstLastPara="1" wrap="square" lIns="91425" tIns="45700" rIns="91425" bIns="45700" anchor="ctr"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60" name="Google Shape;60;p23"/>
          <p:cNvSpPr txBox="1">
            <a:spLocks noGrp="1"/>
          </p:cNvSpPr>
          <p:nvPr>
            <p:ph type="body" idx="2"/>
          </p:nvPr>
        </p:nvSpPr>
        <p:spPr>
          <a:xfrm>
            <a:off x="685800" y="3124199"/>
            <a:ext cx="411480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1" name="Google Shape;61;p23"/>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23"/>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3"/>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24"/>
          <p:cNvSpPr txBox="1">
            <a:spLocks noGrp="1"/>
          </p:cNvSpPr>
          <p:nvPr>
            <p:ph type="title"/>
          </p:nvPr>
        </p:nvSpPr>
        <p:spPr>
          <a:xfrm>
            <a:off x="685800" y="1524000"/>
            <a:ext cx="687324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4"/>
          <p:cNvSpPr>
            <a:spLocks noGrp="1"/>
          </p:cNvSpPr>
          <p:nvPr>
            <p:ph type="pic" idx="2"/>
          </p:nvPr>
        </p:nvSpPr>
        <p:spPr>
          <a:xfrm>
            <a:off x="7861238" y="751241"/>
            <a:ext cx="3644962" cy="5467443"/>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67" name="Google Shape;67;p24"/>
          <p:cNvSpPr txBox="1">
            <a:spLocks noGrp="1"/>
          </p:cNvSpPr>
          <p:nvPr>
            <p:ph type="body" idx="1"/>
          </p:nvPr>
        </p:nvSpPr>
        <p:spPr>
          <a:xfrm>
            <a:off x="685800" y="3124199"/>
            <a:ext cx="687324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8" name="Google Shape;68;p24"/>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24"/>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4"/>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anoramic Picture with Caption">
  <p:cSld name="Panoramic Picture with Caption">
    <p:spTree>
      <p:nvGrpSpPr>
        <p:cNvPr id="1" name="Shape 71"/>
        <p:cNvGrpSpPr/>
        <p:nvPr/>
      </p:nvGrpSpPr>
      <p:grpSpPr>
        <a:xfrm>
          <a:off x="0" y="0"/>
          <a:ext cx="0" cy="0"/>
          <a:chOff x="0" y="0"/>
          <a:chExt cx="0" cy="0"/>
        </a:xfrm>
      </p:grpSpPr>
      <p:sp>
        <p:nvSpPr>
          <p:cNvPr id="72" name="Google Shape;72;p25"/>
          <p:cNvSpPr txBox="1">
            <a:spLocks noGrp="1"/>
          </p:cNvSpPr>
          <p:nvPr>
            <p:ph type="title"/>
          </p:nvPr>
        </p:nvSpPr>
        <p:spPr>
          <a:xfrm>
            <a:off x="685777" y="4697360"/>
            <a:ext cx="10822034" cy="81935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5"/>
          <p:cNvSpPr>
            <a:spLocks noGrp="1"/>
          </p:cNvSpPr>
          <p:nvPr>
            <p:ph type="pic" idx="2"/>
          </p:nvPr>
        </p:nvSpPr>
        <p:spPr>
          <a:xfrm>
            <a:off x="681727" y="941439"/>
            <a:ext cx="10821840" cy="3478161"/>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74" name="Google Shape;74;p25"/>
          <p:cNvSpPr txBox="1">
            <a:spLocks noGrp="1"/>
          </p:cNvSpPr>
          <p:nvPr>
            <p:ph type="body" idx="1"/>
          </p:nvPr>
        </p:nvSpPr>
        <p:spPr>
          <a:xfrm>
            <a:off x="685800" y="5516715"/>
            <a:ext cx="10820400" cy="70196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75" name="Google Shape;75;p2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Title and Caption">
  <p:cSld name="Title and Caption">
    <p:spTree>
      <p:nvGrpSpPr>
        <p:cNvPr id="1" name="Shape 78"/>
        <p:cNvGrpSpPr/>
        <p:nvPr/>
      </p:nvGrpSpPr>
      <p:grpSpPr>
        <a:xfrm>
          <a:off x="0" y="0"/>
          <a:ext cx="0" cy="0"/>
          <a:chOff x="0" y="0"/>
          <a:chExt cx="0" cy="0"/>
        </a:xfrm>
      </p:grpSpPr>
      <p:pic>
        <p:nvPicPr>
          <p:cNvPr id="79" name="Google Shape;79;p2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0" name="Google Shape;80;p26"/>
          <p:cNvSpPr txBox="1">
            <a:spLocks noGrp="1"/>
          </p:cNvSpPr>
          <p:nvPr>
            <p:ph type="title"/>
          </p:nvPr>
        </p:nvSpPr>
        <p:spPr>
          <a:xfrm>
            <a:off x="685800" y="753532"/>
            <a:ext cx="10820400" cy="280246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26"/>
          <p:cNvSpPr txBox="1">
            <a:spLocks noGrp="1"/>
          </p:cNvSpPr>
          <p:nvPr>
            <p:ph type="body" idx="1"/>
          </p:nvPr>
        </p:nvSpPr>
        <p:spPr>
          <a:xfrm>
            <a:off x="1024467" y="3649133"/>
            <a:ext cx="10130516" cy="999067"/>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2" name="Google Shape;82;p26"/>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6"/>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26"/>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Quote with Caption">
  <p:cSld name="Quote with Caption">
    <p:spTree>
      <p:nvGrpSpPr>
        <p:cNvPr id="1" name="Shape 85"/>
        <p:cNvGrpSpPr/>
        <p:nvPr/>
      </p:nvGrpSpPr>
      <p:grpSpPr>
        <a:xfrm>
          <a:off x="0" y="0"/>
          <a:ext cx="0" cy="0"/>
          <a:chOff x="0" y="0"/>
          <a:chExt cx="0" cy="0"/>
        </a:xfrm>
      </p:grpSpPr>
      <p:pic>
        <p:nvPicPr>
          <p:cNvPr id="86" name="Google Shape;86;p27"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7" name="Google Shape;87;p27"/>
          <p:cNvSpPr txBox="1">
            <a:spLocks noGrp="1"/>
          </p:cNvSpPr>
          <p:nvPr>
            <p:ph type="title"/>
          </p:nvPr>
        </p:nvSpPr>
        <p:spPr>
          <a:xfrm>
            <a:off x="1024467" y="753533"/>
            <a:ext cx="10151533" cy="260449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27"/>
          <p:cNvSpPr txBox="1">
            <a:spLocks noGrp="1"/>
          </p:cNvSpPr>
          <p:nvPr>
            <p:ph type="body" idx="1"/>
          </p:nvPr>
        </p:nvSpPr>
        <p:spPr>
          <a:xfrm>
            <a:off x="1303865" y="3365556"/>
            <a:ext cx="9592736" cy="44444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9" name="Google Shape;89;p27"/>
          <p:cNvSpPr txBox="1">
            <a:spLocks noGrp="1"/>
          </p:cNvSpPr>
          <p:nvPr>
            <p:ph type="body" idx="2"/>
          </p:nvPr>
        </p:nvSpPr>
        <p:spPr>
          <a:xfrm>
            <a:off x="1024467" y="3959862"/>
            <a:ext cx="10151533" cy="679871"/>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0" name="Google Shape;90;p27"/>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27"/>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27"/>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
        <p:nvSpPr>
          <p:cNvPr id="93" name="Google Shape;93;p27"/>
          <p:cNvSpPr txBox="1"/>
          <p:nvPr/>
        </p:nvSpPr>
        <p:spPr>
          <a:xfrm>
            <a:off x="476250" y="933450"/>
            <a:ext cx="609600" cy="58477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
        <p:nvSpPr>
          <p:cNvPr id="94" name="Google Shape;94;p27"/>
          <p:cNvSpPr txBox="1"/>
          <p:nvPr/>
        </p:nvSpPr>
        <p:spPr>
          <a:xfrm>
            <a:off x="10984230" y="2701290"/>
            <a:ext cx="609600" cy="584776"/>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Name Card">
  <p:cSld name="Name Card">
    <p:spTree>
      <p:nvGrpSpPr>
        <p:cNvPr id="1" name="Shape 95"/>
        <p:cNvGrpSpPr/>
        <p:nvPr/>
      </p:nvGrpSpPr>
      <p:grpSpPr>
        <a:xfrm>
          <a:off x="0" y="0"/>
          <a:ext cx="0" cy="0"/>
          <a:chOff x="0" y="0"/>
          <a:chExt cx="0" cy="0"/>
        </a:xfrm>
      </p:grpSpPr>
      <p:pic>
        <p:nvPicPr>
          <p:cNvPr id="96" name="Google Shape;96;p2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97" name="Google Shape;97;p28"/>
          <p:cNvSpPr txBox="1">
            <a:spLocks noGrp="1"/>
          </p:cNvSpPr>
          <p:nvPr>
            <p:ph type="title"/>
          </p:nvPr>
        </p:nvSpPr>
        <p:spPr>
          <a:xfrm>
            <a:off x="1024495" y="1124701"/>
            <a:ext cx="10146186" cy="251183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28"/>
          <p:cNvSpPr txBox="1">
            <a:spLocks noGrp="1"/>
          </p:cNvSpPr>
          <p:nvPr>
            <p:ph type="body" idx="1"/>
          </p:nvPr>
        </p:nvSpPr>
        <p:spPr>
          <a:xfrm>
            <a:off x="1024467" y="3648315"/>
            <a:ext cx="10144654" cy="9998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9" name="Google Shape;99;p28"/>
          <p:cNvSpPr txBox="1">
            <a:spLocks noGrp="1"/>
          </p:cNvSpPr>
          <p:nvPr>
            <p:ph type="dt" idx="10"/>
          </p:nvPr>
        </p:nvSpPr>
        <p:spPr>
          <a:xfrm>
            <a:off x="7814452" y="378883"/>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28"/>
          <p:cNvSpPr txBox="1">
            <a:spLocks noGrp="1"/>
          </p:cNvSpPr>
          <p:nvPr>
            <p:ph type="ftr" idx="11"/>
          </p:nvPr>
        </p:nvSpPr>
        <p:spPr>
          <a:xfrm>
            <a:off x="685800" y="378883"/>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1" name="Google Shape;101;p2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 Column">
  <p:cSld name="3 Column">
    <p:spTree>
      <p:nvGrpSpPr>
        <p:cNvPr id="1" name="Shape 102"/>
        <p:cNvGrpSpPr/>
        <p:nvPr/>
      </p:nvGrpSpPr>
      <p:grpSpPr>
        <a:xfrm>
          <a:off x="0" y="0"/>
          <a:ext cx="0" cy="0"/>
          <a:chOff x="0" y="0"/>
          <a:chExt cx="0" cy="0"/>
        </a:xfrm>
      </p:grpSpPr>
      <p:sp>
        <p:nvSpPr>
          <p:cNvPr id="103" name="Google Shape;103;p29"/>
          <p:cNvSpPr txBox="1">
            <a:spLocks noGrp="1"/>
          </p:cNvSpPr>
          <p:nvPr>
            <p:ph type="title"/>
          </p:nvPr>
        </p:nvSpPr>
        <p:spPr>
          <a:xfrm>
            <a:off x="2895600" y="761999"/>
            <a:ext cx="8610599" cy="1303867"/>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p29"/>
          <p:cNvSpPr txBox="1">
            <a:spLocks noGrp="1"/>
          </p:cNvSpPr>
          <p:nvPr>
            <p:ph type="body" idx="1"/>
          </p:nvPr>
        </p:nvSpPr>
        <p:spPr>
          <a:xfrm>
            <a:off x="685800" y="2202080"/>
            <a:ext cx="3456432" cy="617320"/>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5" name="Google Shape;105;p29"/>
          <p:cNvSpPr txBox="1">
            <a:spLocks noGrp="1"/>
          </p:cNvSpPr>
          <p:nvPr>
            <p:ph type="body" idx="2"/>
          </p:nvPr>
        </p:nvSpPr>
        <p:spPr>
          <a:xfrm>
            <a:off x="685799"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6" name="Google Shape;106;p29"/>
          <p:cNvSpPr txBox="1">
            <a:spLocks noGrp="1"/>
          </p:cNvSpPr>
          <p:nvPr>
            <p:ph type="body" idx="3"/>
          </p:nvPr>
        </p:nvSpPr>
        <p:spPr>
          <a:xfrm>
            <a:off x="4368800" y="2201333"/>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7" name="Google Shape;107;p29"/>
          <p:cNvSpPr txBox="1">
            <a:spLocks noGrp="1"/>
          </p:cNvSpPr>
          <p:nvPr>
            <p:ph type="body" idx="4"/>
          </p:nvPr>
        </p:nvSpPr>
        <p:spPr>
          <a:xfrm>
            <a:off x="4366858" y="2904067"/>
            <a:ext cx="3456432" cy="331461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8" name="Google Shape;108;p29"/>
          <p:cNvSpPr txBox="1">
            <a:spLocks noGrp="1"/>
          </p:cNvSpPr>
          <p:nvPr>
            <p:ph type="body" idx="5"/>
          </p:nvPr>
        </p:nvSpPr>
        <p:spPr>
          <a:xfrm>
            <a:off x="8051800" y="2192866"/>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9" name="Google Shape;109;p29"/>
          <p:cNvSpPr txBox="1">
            <a:spLocks noGrp="1"/>
          </p:cNvSpPr>
          <p:nvPr>
            <p:ph type="body" idx="6"/>
          </p:nvPr>
        </p:nvSpPr>
        <p:spPr>
          <a:xfrm>
            <a:off x="8051801"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0" name="Google Shape;110;p2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1" name="Google Shape;111;p2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2" name="Google Shape;112;p2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3 Picture Column">
  <p:cSld name="3 Picture Column">
    <p:spTree>
      <p:nvGrpSpPr>
        <p:cNvPr id="1" name="Shape 113"/>
        <p:cNvGrpSpPr/>
        <p:nvPr/>
      </p:nvGrpSpPr>
      <p:grpSpPr>
        <a:xfrm>
          <a:off x="0" y="0"/>
          <a:ext cx="0" cy="0"/>
          <a:chOff x="0" y="0"/>
          <a:chExt cx="0" cy="0"/>
        </a:xfrm>
      </p:grpSpPr>
      <p:sp>
        <p:nvSpPr>
          <p:cNvPr id="114" name="Google Shape;114;p30"/>
          <p:cNvSpPr txBox="1">
            <a:spLocks noGrp="1"/>
          </p:cNvSpPr>
          <p:nvPr>
            <p:ph type="title"/>
          </p:nvPr>
        </p:nvSpPr>
        <p:spPr>
          <a:xfrm>
            <a:off x="2895600" y="762000"/>
            <a:ext cx="8610599"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5" name="Google Shape;115;p30"/>
          <p:cNvSpPr txBox="1">
            <a:spLocks noGrp="1"/>
          </p:cNvSpPr>
          <p:nvPr>
            <p:ph type="body" idx="1"/>
          </p:nvPr>
        </p:nvSpPr>
        <p:spPr>
          <a:xfrm>
            <a:off x="688618" y="4191000"/>
            <a:ext cx="3451582"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6" name="Google Shape;116;p30"/>
          <p:cNvSpPr>
            <a:spLocks noGrp="1"/>
          </p:cNvSpPr>
          <p:nvPr>
            <p:ph type="pic" idx="2"/>
          </p:nvPr>
        </p:nvSpPr>
        <p:spPr>
          <a:xfrm>
            <a:off x="688618" y="2362200"/>
            <a:ext cx="3451582"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17" name="Google Shape;117;p30"/>
          <p:cNvSpPr txBox="1">
            <a:spLocks noGrp="1"/>
          </p:cNvSpPr>
          <p:nvPr>
            <p:ph type="body" idx="3"/>
          </p:nvPr>
        </p:nvSpPr>
        <p:spPr>
          <a:xfrm>
            <a:off x="688618" y="4873764"/>
            <a:ext cx="3451582"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8" name="Google Shape;118;p30"/>
          <p:cNvSpPr txBox="1">
            <a:spLocks noGrp="1"/>
          </p:cNvSpPr>
          <p:nvPr>
            <p:ph type="body" idx="4"/>
          </p:nvPr>
        </p:nvSpPr>
        <p:spPr>
          <a:xfrm>
            <a:off x="4374263" y="4191000"/>
            <a:ext cx="3448935"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9" name="Google Shape;119;p30"/>
          <p:cNvSpPr>
            <a:spLocks noGrp="1"/>
          </p:cNvSpPr>
          <p:nvPr>
            <p:ph type="pic" idx="5"/>
          </p:nvPr>
        </p:nvSpPr>
        <p:spPr>
          <a:xfrm>
            <a:off x="4374263" y="2362200"/>
            <a:ext cx="3448936"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0" name="Google Shape;120;p30"/>
          <p:cNvSpPr txBox="1">
            <a:spLocks noGrp="1"/>
          </p:cNvSpPr>
          <p:nvPr>
            <p:ph type="body" idx="6"/>
          </p:nvPr>
        </p:nvSpPr>
        <p:spPr>
          <a:xfrm>
            <a:off x="4374264" y="4873763"/>
            <a:ext cx="344893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1" name="Google Shape;121;p30"/>
          <p:cNvSpPr txBox="1">
            <a:spLocks noGrp="1"/>
          </p:cNvSpPr>
          <p:nvPr>
            <p:ph type="body" idx="7"/>
          </p:nvPr>
        </p:nvSpPr>
        <p:spPr>
          <a:xfrm>
            <a:off x="8049731" y="4191000"/>
            <a:ext cx="3456469"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22" name="Google Shape;122;p30"/>
          <p:cNvSpPr>
            <a:spLocks noGrp="1"/>
          </p:cNvSpPr>
          <p:nvPr>
            <p:ph type="pic" idx="8"/>
          </p:nvPr>
        </p:nvSpPr>
        <p:spPr>
          <a:xfrm>
            <a:off x="8049855" y="2362200"/>
            <a:ext cx="3447878"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3" name="Google Shape;123;p30"/>
          <p:cNvSpPr txBox="1">
            <a:spLocks noGrp="1"/>
          </p:cNvSpPr>
          <p:nvPr>
            <p:ph type="body" idx="9"/>
          </p:nvPr>
        </p:nvSpPr>
        <p:spPr>
          <a:xfrm>
            <a:off x="8049731" y="4873761"/>
            <a:ext cx="345244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4" name="Google Shape;124;p3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5" name="Google Shape;125;p3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6" name="Google Shape;126;p3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27"/>
        <p:cNvGrpSpPr/>
        <p:nvPr/>
      </p:nvGrpSpPr>
      <p:grpSpPr>
        <a:xfrm>
          <a:off x="0" y="0"/>
          <a:ext cx="0" cy="0"/>
          <a:chOff x="0" y="0"/>
          <a:chExt cx="0" cy="0"/>
        </a:xfrm>
      </p:grpSpPr>
      <p:sp>
        <p:nvSpPr>
          <p:cNvPr id="128" name="Google Shape;128;p3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9" name="Google Shape;129;p31"/>
          <p:cNvSpPr txBox="1">
            <a:spLocks noGrp="1"/>
          </p:cNvSpPr>
          <p:nvPr>
            <p:ph type="body" idx="1"/>
          </p:nvPr>
        </p:nvSpPr>
        <p:spPr>
          <a:xfrm rot="5400000">
            <a:off x="4083937" y="-1203579"/>
            <a:ext cx="4024125" cy="10820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0" name="Google Shape;130;p3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1" name="Google Shape;131;p3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2" name="Google Shape;132;p3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133"/>
        <p:cNvGrpSpPr/>
        <p:nvPr/>
      </p:nvGrpSpPr>
      <p:grpSpPr>
        <a:xfrm>
          <a:off x="0" y="0"/>
          <a:ext cx="0" cy="0"/>
          <a:chOff x="0" y="0"/>
          <a:chExt cx="0" cy="0"/>
        </a:xfrm>
      </p:grpSpPr>
      <p:pic>
        <p:nvPicPr>
          <p:cNvPr id="134" name="Google Shape;134;p32"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35" name="Google Shape;135;p32"/>
          <p:cNvSpPr txBox="1">
            <a:spLocks noGrp="1"/>
          </p:cNvSpPr>
          <p:nvPr>
            <p:ph type="title"/>
          </p:nvPr>
        </p:nvSpPr>
        <p:spPr>
          <a:xfrm rot="5400000">
            <a:off x="8525933" y="1667933"/>
            <a:ext cx="3903133" cy="20574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000"/>
              <a:buFont typeface="Century Gothic"/>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6" name="Google Shape;136;p32"/>
          <p:cNvSpPr txBox="1">
            <a:spLocks noGrp="1"/>
          </p:cNvSpPr>
          <p:nvPr>
            <p:ph type="body" idx="1"/>
          </p:nvPr>
        </p:nvSpPr>
        <p:spPr>
          <a:xfrm rot="5400000">
            <a:off x="3175000" y="-1405467"/>
            <a:ext cx="3903133" cy="820420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7" name="Google Shape;137;p32"/>
          <p:cNvSpPr txBox="1">
            <a:spLocks noGrp="1"/>
          </p:cNvSpPr>
          <p:nvPr>
            <p:ph type="dt" idx="10"/>
          </p:nvPr>
        </p:nvSpPr>
        <p:spPr>
          <a:xfrm>
            <a:off x="7814452" y="379941"/>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8" name="Google Shape;138;p32"/>
          <p:cNvSpPr txBox="1">
            <a:spLocks noGrp="1"/>
          </p:cNvSpPr>
          <p:nvPr>
            <p:ph type="ftr" idx="11"/>
          </p:nvPr>
        </p:nvSpPr>
        <p:spPr>
          <a:xfrm>
            <a:off x="685800" y="381000"/>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9" name="Google Shape;139;p32"/>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
        <p:cNvGrpSpPr/>
        <p:nvPr/>
      </p:nvGrpSpPr>
      <p:grpSpPr>
        <a:xfrm>
          <a:off x="0" y="0"/>
          <a:ext cx="0" cy="0"/>
          <a:chOff x="0" y="0"/>
          <a:chExt cx="0" cy="0"/>
        </a:xfrm>
      </p:grpSpPr>
      <p:pic>
        <p:nvPicPr>
          <p:cNvPr id="6" name="Google Shape;6;p15" descr="C0-HD-TOP.png"/>
          <p:cNvPicPr preferRelativeResize="0"/>
          <p:nvPr/>
        </p:nvPicPr>
        <p:blipFill rotWithShape="1">
          <a:blip r:embed="rId19">
            <a:alphaModFix/>
          </a:blip>
          <a:srcRect/>
          <a:stretch/>
        </p:blipFill>
        <p:spPr>
          <a:xfrm>
            <a:off x="0" y="0"/>
            <a:ext cx="12192000" cy="1441450"/>
          </a:xfrm>
          <a:prstGeom prst="rect">
            <a:avLst/>
          </a:prstGeom>
          <a:noFill/>
          <a:ln>
            <a:noFill/>
          </a:ln>
        </p:spPr>
      </p:pic>
      <p:sp>
        <p:nvSpPr>
          <p:cNvPr id="7" name="Google Shape;7;p1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marR="0" lvl="0" algn="r" rtl="0">
              <a:lnSpc>
                <a:spcPct val="90000"/>
              </a:lnSpc>
              <a:spcBef>
                <a:spcPts val="0"/>
              </a:spcBef>
              <a:spcAft>
                <a:spcPts val="0"/>
              </a:spcAft>
              <a:buClr>
                <a:schemeClr val="lt1"/>
              </a:buClr>
              <a:buSzPts val="4000"/>
              <a:buFont typeface="Century Gothic"/>
              <a:buNone/>
              <a:defRPr sz="400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p15"/>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marR="0" lvl="0" indent="-368300" algn="l" rtl="0">
              <a:lnSpc>
                <a:spcPct val="90000"/>
              </a:lnSpc>
              <a:spcBef>
                <a:spcPts val="1000"/>
              </a:spcBef>
              <a:spcAft>
                <a:spcPts val="0"/>
              </a:spcAft>
              <a:buClr>
                <a:schemeClr val="lt1"/>
              </a:buClr>
              <a:buSzPts val="2200"/>
              <a:buFont typeface="Arial"/>
              <a:buChar char="•"/>
              <a:defRPr sz="2200" b="0" i="0" u="none" strike="noStrike" cap="none">
                <a:solidFill>
                  <a:schemeClr val="lt1"/>
                </a:solidFill>
                <a:latin typeface="Century Gothic"/>
                <a:ea typeface="Century Gothic"/>
                <a:cs typeface="Century Gothic"/>
                <a:sym typeface="Century Gothic"/>
              </a:defRPr>
            </a:lvl1pPr>
            <a:lvl2pPr marL="914400" marR="0" lvl="1"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Century Gothic"/>
                <a:ea typeface="Century Gothic"/>
                <a:cs typeface="Century Gothic"/>
                <a:sym typeface="Century Gothic"/>
              </a:defRPr>
            </a:lvl2pPr>
            <a:lvl3pPr marL="1371600" marR="0" lvl="2"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entury Gothic"/>
                <a:ea typeface="Century Gothic"/>
                <a:cs typeface="Century Gothic"/>
                <a:sym typeface="Century Gothic"/>
              </a:defRPr>
            </a:lvl3pPr>
            <a:lvl4pPr marL="1828800" marR="0" lvl="3"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4pPr>
            <a:lvl5pPr marL="2286000" marR="0" lvl="4"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5pPr>
            <a:lvl6pPr marL="2743200" marR="0" lvl="5"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6pPr>
            <a:lvl7pPr marL="3200400" marR="0" lvl="6"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7pPr>
            <a:lvl8pPr marL="3657600" marR="0" lvl="7"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8pPr>
            <a:lvl9pPr marL="4114800" marR="0" lvl="8"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9" name="Google Shape;9;p1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0" name="Google Shape;10;p1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1" name="Google Shape;11;p1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5" Type="http://schemas.openxmlformats.org/officeDocument/2006/relationships/image" Target="../media/image3.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8.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9.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10.xml"/><Relationship Id="rId5" Type="http://schemas.openxmlformats.org/officeDocument/2006/relationships/image" Target="../media/image3.png"/><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1.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2.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3.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4.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5.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
          <p:cNvSpPr txBox="1">
            <a:spLocks noGrp="1"/>
          </p:cNvSpPr>
          <p:nvPr>
            <p:ph type="ctrTitle"/>
          </p:nvPr>
        </p:nvSpPr>
        <p:spPr>
          <a:xfrm>
            <a:off x="1371600" y="1790153"/>
            <a:ext cx="9448800" cy="1825096"/>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6000"/>
              <a:buFont typeface="Century Gothic"/>
              <a:buNone/>
            </a:pPr>
            <a:r>
              <a:rPr lang="en-US"/>
              <a:t>Green Pace</a:t>
            </a:r>
            <a:endParaRPr/>
          </a:p>
        </p:txBody>
      </p:sp>
      <p:sp>
        <p:nvSpPr>
          <p:cNvPr id="145" name="Google Shape;145;p1"/>
          <p:cNvSpPr txBox="1">
            <a:spLocks noGrp="1"/>
          </p:cNvSpPr>
          <p:nvPr>
            <p:ph type="subTitle" idx="1"/>
          </p:nvPr>
        </p:nvSpPr>
        <p:spPr>
          <a:xfrm>
            <a:off x="1371600" y="3632200"/>
            <a:ext cx="9448800" cy="1561592"/>
          </a:xfrm>
          <a:prstGeom prst="rect">
            <a:avLst/>
          </a:prstGeom>
          <a:noFill/>
          <a:ln>
            <a:noFill/>
          </a:ln>
        </p:spPr>
        <p:txBody>
          <a:bodyPr spcFirstLastPara="1" wrap="square" lIns="91425" tIns="45700" rIns="91425" bIns="45700" anchor="t" anchorCtr="0">
            <a:normAutofit/>
          </a:bodyPr>
          <a:lstStyle/>
          <a:p>
            <a:pPr marL="0" lvl="0" indent="0" algn="l" rtl="0">
              <a:lnSpc>
                <a:spcPct val="70000"/>
              </a:lnSpc>
              <a:spcBef>
                <a:spcPts val="0"/>
              </a:spcBef>
              <a:spcAft>
                <a:spcPts val="0"/>
              </a:spcAft>
              <a:buClr>
                <a:schemeClr val="lt1"/>
              </a:buClr>
              <a:buSzPts val="1850"/>
              <a:buNone/>
            </a:pPr>
            <a:r>
              <a:rPr sz="2400" dirty="0"/>
              <a:t>Green Pace
Security Policy Presentation
Project Two: Security Policy Presentation
Developer: Shauntel H</a:t>
            </a:r>
            <a:r>
              <a:rPr lang="en-US" sz="2400" dirty="0"/>
              <a:t>all</a:t>
            </a:r>
            <a:r>
              <a:rPr sz="2400" dirty="0"/>
              <a:t>
Date: February 19, 2026</a:t>
            </a:r>
          </a:p>
        </p:txBody>
      </p:sp>
      <p:pic>
        <p:nvPicPr>
          <p:cNvPr id="146" name="Google Shape;146;p1" descr="Green Pace logo"/>
          <p:cNvPicPr preferRelativeResize="0"/>
          <p:nvPr/>
        </p:nvPicPr>
        <p:blipFill>
          <a:blip r:embed="rId4">
            <a:alphaModFix/>
          </a:blip>
          <a:stretch>
            <a:fillRect/>
          </a:stretch>
        </p:blipFill>
        <p:spPr>
          <a:xfrm>
            <a:off x="7440774" y="659854"/>
            <a:ext cx="2921424" cy="3786772"/>
          </a:xfrm>
          <a:prstGeom prst="rect">
            <a:avLst/>
          </a:prstGeom>
          <a:noFill/>
          <a:ln>
            <a:noFill/>
          </a:ln>
        </p:spPr>
      </p:pic>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OVERVIEW: DEFENSE IN DEPTH</a:t>
            </a:r>
            <a:endParaRPr/>
          </a:p>
        </p:txBody>
      </p:sp>
      <p:sp>
        <p:nvSpPr>
          <p:cNvPr id="152" name="Google Shape;152;p3"/>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971550" indent="-285750">
              <a:spcBef>
                <a:spcPts val="0"/>
              </a:spcBef>
              <a:defRPr sz="1800"/>
            </a:pPr>
            <a:r>
              <a:rPr dirty="0"/>
              <a:t>Green Pace is moving from DevOps to </a:t>
            </a:r>
            <a:r>
              <a:rPr dirty="0" err="1"/>
              <a:t>DevSecOps</a:t>
            </a:r>
            <a:r>
              <a:rPr dirty="0"/>
              <a:t>, so secure coding controls become a repeatable, audit-ready part of delivery.</a:t>
            </a:r>
            <a:endParaRPr sz="1600" dirty="0"/>
          </a:p>
          <a:p>
            <a:pPr>
              <a:defRPr sz="1800"/>
            </a:pPr>
            <a:r>
              <a:rPr dirty="0"/>
              <a:t>This policy standardizes 10 secure coding standards (C/C++) plus encryption and Triple‑A controls to reduce the attack surface and assume vulnerability.</a:t>
            </a:r>
          </a:p>
          <a:p>
            <a:pPr>
              <a:defRPr sz="1800"/>
            </a:pPr>
            <a:r>
              <a:rPr dirty="0"/>
              <a:t>Defense in depth is implemented through layered controls: input validation, safe data handling, memory safety, authorization, encryption, and monitoring.</a:t>
            </a:r>
          </a:p>
          <a:p>
            <a:pPr>
              <a:defRPr sz="1800"/>
            </a:pPr>
            <a:r>
              <a:rPr dirty="0"/>
              <a:t>Automation enforces compliance: IDE analyzers and compilers, SAST/SCA in CI, DAST/fuzzing pre‑production, and logging/monitoring in production.</a:t>
            </a:r>
          </a:p>
          <a:p>
            <a:pPr>
              <a:defRPr sz="1800"/>
            </a:pPr>
            <a:r>
              <a:rPr dirty="0"/>
              <a:t>Developers use the standards during design, coding, and code review; auditors use them as evidence of consistent controls and continuous testing.</a:t>
            </a:r>
          </a:p>
          <a:p>
            <a:pPr>
              <a:defRPr sz="1800"/>
            </a:pPr>
            <a:r>
              <a:rPr dirty="0"/>
              <a:t>Outcome: fewer data correctness bugs, fewer injection and memory issues, and faster detection/response when something goes wrong.</a:t>
            </a:r>
          </a:p>
        </p:txBody>
      </p:sp>
      <p:pic>
        <p:nvPicPr>
          <p:cNvPr id="153" name="Google Shape;153;p3" descr="NHS (Healthcare) Defense in Depth – Shaun Van Niekerk&#10;Screenshot of defense-in-depth best practice of layered security.  This illustration provides a visual representation of the defense-in-depth best practice of layered security.&#10;Shows the following layers of developer defense: Physical security, Cloud security, Perimeter security, network security, Host security, Endpoint security, APP security and critical assets, systems, and data security."/>
          <p:cNvPicPr preferRelativeResize="0"/>
          <p:nvPr/>
        </p:nvPicPr>
        <p:blipFill rotWithShape="1">
          <a:blip r:embed="rId4">
            <a:alphaModFix/>
          </a:blip>
          <a:srcRect/>
          <a:stretch/>
        </p:blipFill>
        <p:spPr>
          <a:xfrm>
            <a:off x="144379" y="121131"/>
            <a:ext cx="3737810" cy="1936270"/>
          </a:xfrm>
          <a:prstGeom prst="rect">
            <a:avLst/>
          </a:prstGeom>
          <a:noFill/>
          <a:ln>
            <a:noFill/>
          </a:ln>
        </p:spPr>
      </p:pic>
      <p:pic>
        <p:nvPicPr>
          <p:cNvPr id="154" name="Google Shape;154;p3" descr="Green Pace logo"/>
          <p:cNvPicPr preferRelativeResize="0"/>
          <p:nvPr/>
        </p:nvPicPr>
        <p:blipFill>
          <a:blip r:embed="rId5">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4"/>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THREATS MATRIX</a:t>
            </a:r>
            <a:endParaRPr/>
          </a:p>
        </p:txBody>
      </p:sp>
      <p:sp>
        <p:nvSpPr>
          <p:cNvPr id="160" name="Google Shape;160;p4"/>
          <p:cNvSpPr txBox="1">
            <a:spLocks noGrp="1"/>
          </p:cNvSpPr>
          <p:nvPr>
            <p:ph type="body" idx="1"/>
          </p:nvPr>
        </p:nvSpPr>
        <p:spPr>
          <a:xfrm>
            <a:off x="685800" y="2069427"/>
            <a:ext cx="2486100" cy="4024200"/>
          </a:xfrm>
          <a:prstGeom prst="rect">
            <a:avLst/>
          </a:prstGeom>
          <a:noFill/>
          <a:ln>
            <a:noFill/>
          </a:ln>
        </p:spPr>
        <p:txBody>
          <a:bodyPr spcFirstLastPara="1" wrap="square" lIns="91425" tIns="45700" rIns="91425" bIns="45700" anchor="t" anchorCtr="0">
            <a:normAutofit fontScale="92500"/>
          </a:bodyPr>
          <a:lstStyle/>
          <a:p>
            <a:pPr marL="228600" lvl="0" indent="0" algn="l" rtl="0">
              <a:lnSpc>
                <a:spcPct val="107916"/>
              </a:lnSpc>
              <a:spcBef>
                <a:spcPts val="0"/>
              </a:spcBef>
              <a:spcAft>
                <a:spcPts val="0"/>
              </a:spcAft>
              <a:buSzPts val="1800"/>
              <a:buNone/>
            </a:pPr>
            <a:r>
              <a:rPr sz="1800" dirty="0"/>
              <a:t>Threat Matrix Summary: The highest-risk items combine high severity with high likelihood. Medium-priority items are still </a:t>
            </a:r>
            <a:r>
              <a:rPr lang="en-US" sz="1800" dirty="0"/>
              <a:t>enforced but</a:t>
            </a:r>
            <a:r>
              <a:rPr sz="1800" dirty="0"/>
              <a:t> typically have lower immediate exploitability or stronger compensating controls.</a:t>
            </a:r>
            <a:endParaRPr sz="2400" dirty="0"/>
          </a:p>
        </p:txBody>
      </p:sp>
      <p:graphicFrame>
        <p:nvGraphicFramePr>
          <p:cNvPr id="161" name="Google Shape;161;p4" descr="Alt text required"/>
          <p:cNvGraphicFramePr/>
          <p:nvPr>
            <p:extLst>
              <p:ext uri="{D42A27DB-BD31-4B8C-83A1-F6EECF244321}">
                <p14:modId xmlns:p14="http://schemas.microsoft.com/office/powerpoint/2010/main" val="4404453"/>
              </p:ext>
            </p:extLst>
          </p:nvPr>
        </p:nvGraphicFramePr>
        <p:xfrm>
          <a:off x="3171900" y="2561050"/>
          <a:ext cx="7835225" cy="3538650"/>
        </p:xfrm>
        <a:graphic>
          <a:graphicData uri="http://schemas.openxmlformats.org/drawingml/2006/table">
            <a:tbl>
              <a:tblPr firstRow="1" firstCol="1">
                <a:noFill/>
                <a:tableStyleId>{802198C4-3087-4945-87E3-76CBB3509B7E}</a:tableStyleId>
              </a:tblPr>
              <a:tblGrid>
                <a:gridCol w="4030425">
                  <a:extLst>
                    <a:ext uri="{9D8B030D-6E8A-4147-A177-3AD203B41FA5}">
                      <a16:colId xmlns:a16="http://schemas.microsoft.com/office/drawing/2014/main" val="20000"/>
                    </a:ext>
                  </a:extLst>
                </a:gridCol>
                <a:gridCol w="3804800">
                  <a:extLst>
                    <a:ext uri="{9D8B030D-6E8A-4147-A177-3AD203B41FA5}">
                      <a16:colId xmlns:a16="http://schemas.microsoft.com/office/drawing/2014/main" val="20001"/>
                    </a:ext>
                  </a:extLst>
                </a:gridCol>
              </a:tblGrid>
              <a:tr h="1769325">
                <a:tc>
                  <a:txBody>
                    <a:bodyPr/>
                    <a:lstStyle/>
                    <a:p>
                      <a:pPr>
                        <a:defRPr sz="1400" b="1"/>
                      </a:pPr>
                      <a:r>
                        <a:t>Likely + High priority</a:t>
                      </a:r>
                    </a:p>
                    <a:p>
                      <a:pPr>
                        <a:defRPr sz="1200"/>
                      </a:pPr>
                      <a:r>
                        <a:t>STD-003-CPP, STD-004-CPP, STD-008-CPP, STD-010-CPP</a:t>
                      </a: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tc>
                  <a:txBody>
                    <a:bodyPr/>
                    <a:lstStyle/>
                    <a:p>
                      <a:pPr>
                        <a:defRPr sz="1400" b="1"/>
                      </a:pPr>
                      <a:r>
                        <a:t>Possible + High priority</a:t>
                      </a:r>
                    </a:p>
                    <a:p>
                      <a:pPr>
                        <a:defRPr sz="1200"/>
                      </a:pPr>
                      <a:r>
                        <a:t>STD-002-CPP, STD-005-CPP, STD-009-CPP</a:t>
                      </a: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extLst>
                  <a:ext uri="{0D108BD9-81ED-4DB2-BD59-A6C34878D82A}">
                    <a16:rowId xmlns:a16="http://schemas.microsoft.com/office/drawing/2014/main" val="10000"/>
                  </a:ext>
                </a:extLst>
              </a:tr>
              <a:tr h="1769325">
                <a:tc>
                  <a:txBody>
                    <a:bodyPr/>
                    <a:lstStyle/>
                    <a:p>
                      <a:pPr>
                        <a:defRPr sz="1400" b="1"/>
                      </a:pPr>
                      <a:r>
                        <a:t>Medium priority</a:t>
                      </a:r>
                    </a:p>
                    <a:p>
                      <a:pPr>
                        <a:defRPr sz="1200"/>
                      </a:pPr>
                      <a:r>
                        <a:t>STD-001-CPP, STD-006-CPP, STD-007-CPP</a:t>
                      </a: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tc>
                  <a:txBody>
                    <a:bodyPr/>
                    <a:lstStyle/>
                    <a:p>
                      <a:pPr>
                        <a:defRPr sz="1400" b="1"/>
                      </a:pPr>
                      <a:r>
                        <a:t>Unlikely (none rated)</a:t>
                      </a:r>
                    </a:p>
                    <a:p>
                      <a:pPr>
                        <a:defRPr sz="1200"/>
                      </a:pPr>
                      <a:r>
                        <a:t>Reassess quarterly; watch trends.</a:t>
                      </a: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extLst>
                  <a:ext uri="{0D108BD9-81ED-4DB2-BD59-A6C34878D82A}">
                    <a16:rowId xmlns:a16="http://schemas.microsoft.com/office/drawing/2014/main" val="10001"/>
                  </a:ext>
                </a:extLst>
              </a:tr>
            </a:tbl>
          </a:graphicData>
        </a:graphic>
      </p:graphicFrame>
      <p:pic>
        <p:nvPicPr>
          <p:cNvPr id="162" name="Google Shape;162;p4"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10 PRINCIPLES</a:t>
            </a:r>
            <a:endParaRPr/>
          </a:p>
        </p:txBody>
      </p:sp>
      <p:sp>
        <p:nvSpPr>
          <p:cNvPr id="168" name="Google Shape;168;p5"/>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lnSpcReduction="10000"/>
          </a:bodyPr>
          <a:lstStyle/>
          <a:p>
            <a:pPr marL="342900" algn="l" rtl="0">
              <a:lnSpc>
                <a:spcPct val="90000"/>
              </a:lnSpc>
              <a:spcBef>
                <a:spcPts val="0"/>
              </a:spcBef>
              <a:spcAft>
                <a:spcPts val="0"/>
              </a:spcAft>
              <a:buClr>
                <a:schemeClr val="lt1"/>
              </a:buClr>
              <a:buSzPts val="2200"/>
              <a:buFont typeface="+mj-lt"/>
              <a:buAutoNum type="arabicPeriod"/>
              <a:defRPr sz="1400"/>
            </a:pPr>
            <a:r>
              <a:rPr lang="en-US" sz="1600" dirty="0"/>
              <a:t>Validate Input Data: STD-003-CPP, STD-004-CPP, STD-008-CPP</a:t>
            </a:r>
            <a:endParaRPr sz="1600" dirty="0"/>
          </a:p>
          <a:p>
            <a:pPr>
              <a:buFont typeface="+mj-lt"/>
              <a:buAutoNum type="arabicPeriod"/>
              <a:defRPr sz="1400"/>
            </a:pPr>
            <a:r>
              <a:rPr sz="1600" dirty="0"/>
              <a:t>Heed Compiler Warnings: STD-001-CPP, STD-002-CPP, STD-005-CPP</a:t>
            </a:r>
          </a:p>
          <a:p>
            <a:pPr>
              <a:buFont typeface="+mj-lt"/>
              <a:buAutoNum type="arabicPeriod"/>
              <a:defRPr sz="1400"/>
            </a:pPr>
            <a:r>
              <a:rPr sz="1600" dirty="0"/>
              <a:t>Architect and Design for Security Policies: STD-010-CPP, STD-009-CPP, STD-004-CPP</a:t>
            </a:r>
          </a:p>
          <a:p>
            <a:pPr>
              <a:buFont typeface="+mj-lt"/>
              <a:buAutoNum type="arabicPeriod"/>
              <a:defRPr sz="1400"/>
            </a:pPr>
            <a:r>
              <a:rPr sz="1600" dirty="0"/>
              <a:t>Keep It Simple: STD-005-CPP, STD-007-CPP</a:t>
            </a:r>
          </a:p>
          <a:p>
            <a:pPr>
              <a:buFont typeface="+mj-lt"/>
              <a:buAutoNum type="arabicPeriod"/>
              <a:defRPr sz="1400"/>
            </a:pPr>
            <a:r>
              <a:rPr sz="1600" dirty="0"/>
              <a:t>Default Deny: STD-010-CPP, STD-004-CPP</a:t>
            </a:r>
          </a:p>
          <a:p>
            <a:pPr>
              <a:buFont typeface="+mj-lt"/>
              <a:buAutoNum type="arabicPeriod"/>
              <a:defRPr sz="1400"/>
            </a:pPr>
            <a:r>
              <a:rPr sz="1600" dirty="0"/>
              <a:t>Adhere to the Principle of Least Privilege: STD-010-CPP</a:t>
            </a:r>
          </a:p>
          <a:p>
            <a:pPr>
              <a:buFont typeface="+mj-lt"/>
              <a:buAutoNum type="arabicPeriod"/>
              <a:defRPr sz="1400"/>
            </a:pPr>
            <a:r>
              <a:rPr sz="1600" dirty="0"/>
              <a:t>Sanitize Data Sent to Other Systems: STD-004-CPP, STD-009-CPP</a:t>
            </a:r>
          </a:p>
          <a:p>
            <a:pPr>
              <a:buFont typeface="+mj-lt"/>
              <a:buAutoNum type="arabicPeriod"/>
              <a:defRPr sz="1400"/>
            </a:pPr>
            <a:r>
              <a:rPr sz="1600" dirty="0"/>
              <a:t>Practice Defense in Depth: STD-001-CPP, STD-002-CPP, STD-003-CPP, STD-004-CPP, STD-005-CPP, STD-008-CPP, STD-009-CPP, STD-010-CPP</a:t>
            </a:r>
          </a:p>
          <a:p>
            <a:pPr>
              <a:buFont typeface="+mj-lt"/>
              <a:buAutoNum type="arabicPeriod"/>
              <a:defRPr sz="1400"/>
            </a:pPr>
            <a:r>
              <a:rPr sz="1600" dirty="0"/>
              <a:t>Use Effective Quality Assurance Techniques: STD-002-CPP, STD-003-CPP, STD-004-CPP, STD-005-CPP, STD-007-CPP</a:t>
            </a:r>
          </a:p>
          <a:p>
            <a:pPr>
              <a:buFont typeface="+mj-lt"/>
              <a:buAutoNum type="arabicPeriod"/>
              <a:defRPr sz="1400"/>
            </a:pPr>
            <a:r>
              <a:rPr sz="1600" dirty="0"/>
              <a:t>Adopt a Secure Coding Standard: STD-001-CPP, STD-002-CPP, STD-003-CPP, STD-004-CPP, STD-005-CPP, STD-006-CPP, STD-007-CPP, STD-008-CPP, STD-009-CPP, STD-010-CPP</a:t>
            </a:r>
          </a:p>
        </p:txBody>
      </p:sp>
      <p:pic>
        <p:nvPicPr>
          <p:cNvPr id="169" name="Google Shape;169;p5"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6"/>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CODING STANDARDS</a:t>
            </a:r>
            <a:endParaRPr/>
          </a:p>
        </p:txBody>
      </p:sp>
      <p:sp>
        <p:nvSpPr>
          <p:cNvPr id="175" name="Google Shape;175;p6"/>
          <p:cNvSpPr txBox="1">
            <a:spLocks noGrp="1"/>
          </p:cNvSpPr>
          <p:nvPr>
            <p:ph type="body" idx="1"/>
          </p:nvPr>
        </p:nvSpPr>
        <p:spPr>
          <a:xfrm>
            <a:off x="433137" y="1748590"/>
            <a:ext cx="11073063" cy="4841162"/>
          </a:xfrm>
          <a:prstGeom prst="rect">
            <a:avLst/>
          </a:prstGeom>
          <a:noFill/>
          <a:ln>
            <a:noFill/>
          </a:ln>
        </p:spPr>
        <p:txBody>
          <a:bodyPr spcFirstLastPara="1" wrap="square" lIns="91425" tIns="45700" rIns="91425" bIns="45700" anchor="t" anchorCtr="0">
            <a:normAutofit/>
          </a:bodyPr>
          <a:lstStyle/>
          <a:p>
            <a:pPr>
              <a:defRPr sz="1400"/>
            </a:pPr>
            <a:r>
              <a:rPr sz="1600" dirty="0"/>
              <a:t>STD-004-CPP – Prevent SQL Injection with Parameterized Queries (Level 5)</a:t>
            </a:r>
          </a:p>
          <a:p>
            <a:pPr>
              <a:defRPr sz="1400"/>
            </a:pPr>
            <a:r>
              <a:rPr sz="1600" dirty="0"/>
              <a:t>STD-008-CPP – Validate Input Length, Format, and Range at Trust Boundaries (Level 5)</a:t>
            </a:r>
          </a:p>
          <a:p>
            <a:pPr>
              <a:defRPr sz="1400"/>
            </a:pPr>
            <a:r>
              <a:rPr sz="1600" dirty="0"/>
              <a:t>STD-010-CPP – Enforce Authorization Checks on Every Sensitive Operation (Level 5)</a:t>
            </a:r>
          </a:p>
          <a:p>
            <a:pPr>
              <a:defRPr sz="1400"/>
            </a:pPr>
            <a:r>
              <a:rPr sz="1600" dirty="0"/>
              <a:t>STD-003-CPP – Use Bounds-Checked String Handling (Level 4)</a:t>
            </a:r>
          </a:p>
          <a:p>
            <a:pPr>
              <a:defRPr sz="1400"/>
            </a:pPr>
            <a:r>
              <a:rPr sz="1600" dirty="0"/>
              <a:t>STD-002-CPP – Prevent Integer Overflow and Underflow in Arithmetic (Level 4)</a:t>
            </a:r>
          </a:p>
          <a:p>
            <a:pPr>
              <a:defRPr sz="1400"/>
            </a:pPr>
            <a:r>
              <a:rPr sz="1600" dirty="0"/>
              <a:t>STD-005-CPP – Prefer RAII and Smart Pointers for Memory Safety (Level 4)</a:t>
            </a:r>
          </a:p>
          <a:p>
            <a:pPr>
              <a:defRPr sz="1400"/>
            </a:pPr>
            <a:r>
              <a:rPr sz="1600" dirty="0"/>
              <a:t>STD-009-CPP – Minimize Sensitive Data Exposure in Logs and Output (Level 4)</a:t>
            </a:r>
          </a:p>
          <a:p>
            <a:pPr>
              <a:defRPr sz="1400"/>
            </a:pPr>
            <a:r>
              <a:rPr sz="1600" dirty="0"/>
              <a:t>STD-001-CPP – Use Correct Data Types and Avoid Narrowing Conversions (Level 3)</a:t>
            </a:r>
          </a:p>
          <a:p>
            <a:pPr>
              <a:defRPr sz="1400"/>
            </a:pPr>
            <a:r>
              <a:rPr sz="1600" dirty="0"/>
              <a:t>STD-006-CPP – Do Not Rely on Assertions for Security Checks (Level 3)</a:t>
            </a:r>
          </a:p>
          <a:p>
            <a:pPr>
              <a:defRPr sz="1400"/>
            </a:pPr>
            <a:r>
              <a:rPr sz="1600" dirty="0"/>
              <a:t>STD-007-CPP – Use Exceptions Safely and Avoid Information Leakage (Level 3)</a:t>
            </a:r>
            <a:endParaRPr lang="en-US" sz="1600" dirty="0"/>
          </a:p>
          <a:p>
            <a:pPr>
              <a:defRPr sz="1400"/>
            </a:pPr>
            <a:endParaRPr lang="en-US" sz="1600" dirty="0"/>
          </a:p>
          <a:p>
            <a:pPr marL="114300" indent="0">
              <a:buNone/>
              <a:defRPr sz="1400"/>
            </a:pPr>
            <a:r>
              <a:rPr lang="en-US" sz="1600" dirty="0"/>
              <a:t>Prioritization: Combined risk level from Severity + Likelihood, then adjusted by remediation cost and strength of available automation gates (SAST/SCA/unit tests). Highest‑priority items are those that are both exploitable and high‑impact.</a:t>
            </a:r>
          </a:p>
          <a:p>
            <a:pPr marL="114300" indent="0">
              <a:buNone/>
              <a:defRPr sz="1400"/>
            </a:pPr>
            <a:endParaRPr sz="1600" dirty="0"/>
          </a:p>
        </p:txBody>
      </p:sp>
      <p:pic>
        <p:nvPicPr>
          <p:cNvPr id="176" name="Google Shape;176;p6"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ENCRYPTION POLICIES</a:t>
            </a:r>
            <a:endParaRPr/>
          </a:p>
        </p:txBody>
      </p:sp>
      <p:sp>
        <p:nvSpPr>
          <p:cNvPr id="182" name="Google Shape;182;p7"/>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228600" indent="-228600" algn="l" rtl="0">
              <a:lnSpc>
                <a:spcPct val="90000"/>
              </a:lnSpc>
              <a:spcBef>
                <a:spcPts val="0"/>
              </a:spcBef>
              <a:spcAft>
                <a:spcPts val="0"/>
              </a:spcAft>
              <a:buClr>
                <a:schemeClr val="lt1"/>
              </a:buClr>
              <a:buSzPts val="2000"/>
              <a:buChar char="•"/>
              <a:defRPr sz="1600"/>
            </a:pPr>
            <a:r>
              <a:rPr sz="2000" dirty="0"/>
              <a:t>Encryption in flight: Use TLS for all network traffic</a:t>
            </a:r>
            <a:r>
              <a:rPr lang="en-US" sz="2000" dirty="0"/>
              <a:t>,</a:t>
            </a:r>
            <a:r>
              <a:rPr sz="2000" dirty="0"/>
              <a:t> </a:t>
            </a:r>
            <a:r>
              <a:rPr sz="2000" dirty="0" err="1"/>
              <a:t>client↔web</a:t>
            </a:r>
            <a:r>
              <a:rPr sz="2000" dirty="0"/>
              <a:t>, </a:t>
            </a:r>
            <a:r>
              <a:rPr sz="2000" dirty="0" err="1"/>
              <a:t>service↔service</a:t>
            </a:r>
            <a:r>
              <a:rPr sz="2000" dirty="0"/>
              <a:t>, </a:t>
            </a:r>
            <a:r>
              <a:rPr sz="2000" dirty="0" err="1"/>
              <a:t>service↔DB</a:t>
            </a:r>
            <a:r>
              <a:rPr sz="2000" dirty="0"/>
              <a:t>. Require modern protocols/ciphers, validate certificates, and prefer </a:t>
            </a:r>
            <a:r>
              <a:rPr sz="2000" dirty="0" err="1"/>
              <a:t>mTLS</a:t>
            </a:r>
            <a:r>
              <a:rPr sz="2000" dirty="0"/>
              <a:t> for internal services.</a:t>
            </a:r>
          </a:p>
          <a:p>
            <a:pPr>
              <a:defRPr sz="1600"/>
            </a:pPr>
            <a:r>
              <a:rPr sz="2000" dirty="0"/>
              <a:t>Encryption at rest: Encrypt databases, storage volumes, and backups. Keys are managed in a centralized KMS/HSM with rotation, least‑privilege access, and separation of duties.</a:t>
            </a:r>
          </a:p>
          <a:p>
            <a:pPr>
              <a:defRPr sz="1600"/>
            </a:pPr>
            <a:r>
              <a:rPr sz="2000" dirty="0"/>
              <a:t>Encryption in use: Reduce plaintext exposure while processing. Minimize secrets in memory/logs, use application‑level encryption for high‑risk fields, and consider confidential‑computing/TEEs for sensitive workloads.</a:t>
            </a:r>
          </a:p>
          <a:p>
            <a:pPr>
              <a:defRPr sz="1600"/>
            </a:pPr>
            <a:r>
              <a:rPr sz="2000" dirty="0"/>
              <a:t>Why it applies: Encryption protects confidentiality and integrity across layers and supports audit requirements and incident containment.</a:t>
            </a:r>
          </a:p>
        </p:txBody>
      </p:sp>
      <p:pic>
        <p:nvPicPr>
          <p:cNvPr id="183" name="Google Shape;183;p7"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8"/>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TRIPLE-A POLICIES</a:t>
            </a:r>
            <a:endParaRPr/>
          </a:p>
        </p:txBody>
      </p:sp>
      <p:sp>
        <p:nvSpPr>
          <p:cNvPr id="189" name="Google Shape;189;p8"/>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fontScale="92500"/>
          </a:bodyPr>
          <a:lstStyle/>
          <a:p>
            <a:pPr marL="342900">
              <a:spcBef>
                <a:spcPts val="0"/>
              </a:spcBef>
              <a:buSzPts val="2400"/>
              <a:defRPr sz="1600"/>
            </a:pPr>
            <a:r>
              <a:rPr sz="2400" dirty="0"/>
              <a:t>Authentication: Strong identity proofing with MFA for privileged roles, secure password storage, session timeouts, and lockout/rate‑limit controls.</a:t>
            </a:r>
            <a:endParaRPr lang="en-US" sz="2400" dirty="0"/>
          </a:p>
          <a:p>
            <a:pPr marL="342900">
              <a:spcBef>
                <a:spcPts val="0"/>
              </a:spcBef>
              <a:buSzPts val="2400"/>
              <a:defRPr sz="1600"/>
            </a:pPr>
            <a:endParaRPr lang="en-US" sz="2400" dirty="0"/>
          </a:p>
          <a:p>
            <a:pPr marL="342900">
              <a:spcBef>
                <a:spcPts val="0"/>
              </a:spcBef>
              <a:buSzPts val="2400"/>
              <a:defRPr sz="1600"/>
            </a:pPr>
            <a:r>
              <a:rPr sz="2400" dirty="0"/>
              <a:t>Authorization: Enforce server‑side RBAC/ABAC and object‑level checks on every sensitive operation. Default‑deny when authorization is unclear.</a:t>
            </a:r>
            <a:endParaRPr lang="en-US" sz="2400" dirty="0"/>
          </a:p>
          <a:p>
            <a:pPr marL="342900">
              <a:spcBef>
                <a:spcPts val="0"/>
              </a:spcBef>
              <a:buSzPts val="2400"/>
              <a:defRPr sz="1600"/>
            </a:pPr>
            <a:endParaRPr lang="en-US" sz="2400" dirty="0"/>
          </a:p>
          <a:p>
            <a:pPr marL="342900">
              <a:spcBef>
                <a:spcPts val="0"/>
              </a:spcBef>
              <a:buSzPts val="2400"/>
              <a:defRPr sz="1600"/>
            </a:pPr>
            <a:r>
              <a:rPr sz="2400" dirty="0"/>
              <a:t>Accounting: Maintain tamper‑evident audit logs for logins, permission changes, creation of users, and data access. Logs support incident response, forensics, and compliance</a:t>
            </a:r>
            <a:endParaRPr lang="en-US" sz="2400" dirty="0"/>
          </a:p>
          <a:p>
            <a:pPr marL="342900">
              <a:spcBef>
                <a:spcPts val="0"/>
              </a:spcBef>
              <a:buSzPts val="2400"/>
              <a:defRPr sz="1600"/>
            </a:pPr>
            <a:endParaRPr lang="en-US" sz="2400" dirty="0"/>
          </a:p>
          <a:p>
            <a:pPr marL="342900">
              <a:spcBef>
                <a:spcPts val="0"/>
              </a:spcBef>
              <a:buSzPts val="2400"/>
              <a:defRPr sz="1600"/>
            </a:pPr>
            <a:r>
              <a:rPr sz="2400" dirty="0"/>
              <a:t>Why it applies: Triple‑A ensures only verified users act, only allowed actions occur, and every high‑impact action is traceable.</a:t>
            </a:r>
          </a:p>
        </p:txBody>
      </p:sp>
      <p:pic>
        <p:nvPicPr>
          <p:cNvPr id="190" name="Google Shape;190;p8"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g9504e29505_0_0"/>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pPr>
            <a:r>
              <a:rPr lang="en-US"/>
              <a:t>Unit Testing</a:t>
            </a:r>
            <a:endParaRPr/>
          </a:p>
        </p:txBody>
      </p:sp>
      <p:sp>
        <p:nvSpPr>
          <p:cNvPr id="196" name="Google Shape;196;g9504e29505_0_0"/>
          <p:cNvSpPr txBox="1">
            <a:spLocks noGrp="1"/>
          </p:cNvSpPr>
          <p:nvPr>
            <p:ph type="body" idx="1"/>
          </p:nvPr>
        </p:nvSpPr>
        <p:spPr>
          <a:xfrm>
            <a:off x="685800" y="2194560"/>
            <a:ext cx="10820400" cy="4024200"/>
          </a:xfrm>
          <a:prstGeom prst="rect">
            <a:avLst/>
          </a:prstGeom>
          <a:noFill/>
          <a:ln>
            <a:noFill/>
          </a:ln>
        </p:spPr>
        <p:txBody>
          <a:bodyPr spcFirstLastPara="1" wrap="square" lIns="91425" tIns="45700" rIns="91425" bIns="45700" anchor="t" anchorCtr="0">
            <a:noAutofit/>
          </a:bodyPr>
          <a:lstStyle/>
          <a:p>
            <a:pPr marL="114300" indent="0">
              <a:buNone/>
              <a:defRPr sz="1500"/>
            </a:pPr>
            <a:endParaRPr lang="en-US"/>
          </a:p>
          <a:p>
            <a:pPr marL="114300" indent="0">
              <a:buNone/>
              <a:defRPr sz="1500"/>
            </a:pPr>
            <a:r>
              <a:rPr dirty="0"/>
              <a:t>Step further: run the same tests across multiple integer widths (int32, int64) and add fuzz tests for random inputs.</a:t>
            </a:r>
          </a:p>
        </p:txBody>
      </p:sp>
      <p:pic>
        <p:nvPicPr>
          <p:cNvPr id="197" name="Google Shape;197;g9504e29505_0_0"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Unit Test 1: AddNumbers_NoOverflow_ReturnsExpected</a:t>
            </a:r>
          </a:p>
        </p:txBody>
      </p:sp>
      <p:sp>
        <p:nvSpPr>
          <p:cNvPr id="3" name="Text Placeholder 2"/>
          <p:cNvSpPr>
            <a:spLocks noGrp="1"/>
          </p:cNvSpPr>
          <p:nvPr>
            <p:ph type="body" idx="1"/>
          </p:nvPr>
        </p:nvSpPr>
        <p:spPr/>
        <p:txBody>
          <a:bodyPr wrap="square">
            <a:normAutofit/>
          </a:bodyPr>
          <a:lstStyle/>
          <a:p>
            <a:pPr>
              <a:defRPr sz="1500"/>
            </a:pPr>
            <a:r>
              <a:rPr sz="2000" dirty="0"/>
              <a:t>Goal: Prove normal addition works without overflow when inputs are within bounds.</a:t>
            </a:r>
          </a:p>
          <a:p>
            <a:pPr>
              <a:defRPr sz="1500"/>
            </a:pPr>
            <a:r>
              <a:rPr sz="2000" dirty="0"/>
              <a:t>Method: Add 5 increments that keep the result ≤ max(T).</a:t>
            </a:r>
          </a:p>
          <a:p>
            <a:pPr>
              <a:defRPr sz="1500"/>
            </a:pPr>
            <a:r>
              <a:rPr sz="2000" dirty="0"/>
              <a:t>Expected: Function returns success; result matches start + increment*steps.</a:t>
            </a:r>
          </a:p>
          <a:p>
            <a:pPr>
              <a:defRPr sz="1500"/>
            </a:pPr>
            <a:r>
              <a:rPr sz="2000" dirty="0"/>
              <a:t>Step further: Randomize increments and compare against a widened type (e.g., int64).</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Unit Test 2: AddNumbers_Overflow_ReturnsFailure (Negative)</a:t>
            </a:r>
          </a:p>
        </p:txBody>
      </p:sp>
      <p:sp>
        <p:nvSpPr>
          <p:cNvPr id="3" name="Text Placeholder 2"/>
          <p:cNvSpPr>
            <a:spLocks noGrp="1"/>
          </p:cNvSpPr>
          <p:nvPr>
            <p:ph type="body" idx="1"/>
          </p:nvPr>
        </p:nvSpPr>
        <p:spPr/>
        <p:txBody>
          <a:bodyPr wrap="square">
            <a:normAutofit/>
          </a:bodyPr>
          <a:lstStyle/>
          <a:p>
            <a:pPr>
              <a:defRPr sz="1500"/>
            </a:pPr>
            <a:r>
              <a:rPr sz="2400" dirty="0"/>
              <a:t>Goal: Prove overflow is detected and prevented (no wraparound).</a:t>
            </a:r>
          </a:p>
          <a:p>
            <a:pPr>
              <a:defRPr sz="1500"/>
            </a:pPr>
            <a:r>
              <a:rPr sz="2400" dirty="0"/>
              <a:t>Method: Choose inputs where start + increment*steps would exceed max(T).</a:t>
            </a:r>
          </a:p>
          <a:p>
            <a:pPr>
              <a:defRPr sz="1500"/>
            </a:pPr>
            <a:r>
              <a:rPr sz="2400" dirty="0"/>
              <a:t>Expected: Function returns failure/overflow flag; result is unchanged or clamped by policy.</a:t>
            </a:r>
          </a:p>
          <a:p>
            <a:pPr>
              <a:defRPr sz="1500"/>
            </a:pPr>
            <a:r>
              <a:rPr sz="2400" dirty="0"/>
              <a:t>Step further: Verify behavior for signed vs unsigned types.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Unit Test 3: SubtractNumbers_NoUnderflow_ReturnsExpected</a:t>
            </a:r>
          </a:p>
        </p:txBody>
      </p:sp>
      <p:sp>
        <p:nvSpPr>
          <p:cNvPr id="3" name="Text Placeholder 2"/>
          <p:cNvSpPr>
            <a:spLocks noGrp="1"/>
          </p:cNvSpPr>
          <p:nvPr>
            <p:ph type="body" idx="1"/>
          </p:nvPr>
        </p:nvSpPr>
        <p:spPr/>
        <p:txBody>
          <a:bodyPr wrap="square">
            <a:normAutofit/>
          </a:bodyPr>
          <a:lstStyle/>
          <a:p>
            <a:pPr>
              <a:defRPr sz="1500"/>
            </a:pPr>
            <a:r>
              <a:rPr sz="2400" dirty="0"/>
              <a:t>Goal: Prove normal subtraction works without underflow when inputs are within bounds.</a:t>
            </a:r>
          </a:p>
          <a:p>
            <a:pPr>
              <a:defRPr sz="1500"/>
            </a:pPr>
            <a:r>
              <a:rPr sz="2400" dirty="0"/>
              <a:t>Method: Subtract 5 decrements that keep the result ≥ min(T) (or 0 for unsigned).</a:t>
            </a:r>
          </a:p>
          <a:p>
            <a:pPr>
              <a:defRPr sz="1500"/>
            </a:pPr>
            <a:r>
              <a:rPr sz="2400" dirty="0"/>
              <a:t>Expected: Function returns success; result matches start - decrement*steps.</a:t>
            </a:r>
          </a:p>
          <a:p>
            <a:pPr>
              <a:defRPr sz="1500"/>
            </a:pPr>
            <a:r>
              <a:rPr sz="2400" dirty="0"/>
              <a:t>Step further: Add tests for different starting points (0, midrange, max).</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Unit Test 4: SubtractNumbers_Underflow_ReturnsFailure (Negative)</a:t>
            </a:r>
          </a:p>
        </p:txBody>
      </p:sp>
      <p:sp>
        <p:nvSpPr>
          <p:cNvPr id="3" name="Text Placeholder 2"/>
          <p:cNvSpPr>
            <a:spLocks noGrp="1"/>
          </p:cNvSpPr>
          <p:nvPr>
            <p:ph type="body" idx="1"/>
          </p:nvPr>
        </p:nvSpPr>
        <p:spPr/>
        <p:txBody>
          <a:bodyPr wrap="square">
            <a:normAutofit/>
          </a:bodyPr>
          <a:lstStyle/>
          <a:p>
            <a:pPr>
              <a:defRPr sz="1500"/>
            </a:pPr>
            <a:r>
              <a:rPr sz="2400" dirty="0"/>
              <a:t>Goal: Prove underflow is detected and prevented (no wraparound).</a:t>
            </a:r>
          </a:p>
          <a:p>
            <a:pPr>
              <a:defRPr sz="1500"/>
            </a:pPr>
            <a:r>
              <a:rPr sz="2400" dirty="0"/>
              <a:t>Method: Choose inputs where start - decrement*steps would drop below min(T)/0.</a:t>
            </a:r>
          </a:p>
          <a:p>
            <a:pPr>
              <a:defRPr sz="1500"/>
            </a:pPr>
            <a:r>
              <a:rPr sz="2400" dirty="0"/>
              <a:t>Expected: Function returns failure/underflow flag; result is unchanged or clamped by policy.</a:t>
            </a:r>
          </a:p>
          <a:p>
            <a:pPr>
              <a:defRPr sz="1500"/>
            </a:pPr>
            <a:r>
              <a:rPr sz="2400" dirty="0"/>
              <a:t>Step further: Add fuzz tests with random decrements and steps.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Unit Test 5: AddNumbers_Boundary_MaxMinus1Plus1</a:t>
            </a:r>
          </a:p>
        </p:txBody>
      </p:sp>
      <p:sp>
        <p:nvSpPr>
          <p:cNvPr id="3" name="Text Placeholder 2"/>
          <p:cNvSpPr>
            <a:spLocks noGrp="1"/>
          </p:cNvSpPr>
          <p:nvPr>
            <p:ph type="body" idx="1"/>
          </p:nvPr>
        </p:nvSpPr>
        <p:spPr/>
        <p:txBody>
          <a:bodyPr wrap="square">
            <a:normAutofit/>
          </a:bodyPr>
          <a:lstStyle/>
          <a:p>
            <a:pPr>
              <a:defRPr sz="1500"/>
            </a:pPr>
            <a:r>
              <a:rPr sz="2400" dirty="0"/>
              <a:t>Goal: Validate correct behavior on a boundary condition just below overflow.</a:t>
            </a:r>
          </a:p>
          <a:p>
            <a:pPr>
              <a:defRPr sz="1500"/>
            </a:pPr>
            <a:r>
              <a:rPr sz="2400" dirty="0"/>
              <a:t>Method: Set start = max(T) - 1, increment = 1, steps = 1.</a:t>
            </a:r>
          </a:p>
          <a:p>
            <a:pPr>
              <a:defRPr sz="1500"/>
            </a:pPr>
            <a:r>
              <a:rPr sz="2400" dirty="0"/>
              <a:t>Expected: Success; result equals max(T). No overflow flag.</a:t>
            </a:r>
          </a:p>
          <a:p>
            <a:pPr>
              <a:defRPr sz="1500"/>
            </a:pPr>
            <a:r>
              <a:rPr sz="2400" dirty="0"/>
              <a:t>Step further: Add a paired test with steps = 2 (should fail).</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Unit Test 6: SubtractNumbers_Boundary_MinPlus1Minus1</a:t>
            </a:r>
          </a:p>
        </p:txBody>
      </p:sp>
      <p:sp>
        <p:nvSpPr>
          <p:cNvPr id="3" name="Text Placeholder 2"/>
          <p:cNvSpPr>
            <a:spLocks noGrp="1"/>
          </p:cNvSpPr>
          <p:nvPr>
            <p:ph type="body" idx="1"/>
          </p:nvPr>
        </p:nvSpPr>
        <p:spPr/>
        <p:txBody>
          <a:bodyPr wrap="square">
            <a:normAutofit/>
          </a:bodyPr>
          <a:lstStyle/>
          <a:p>
            <a:pPr>
              <a:defRPr sz="1500"/>
            </a:pPr>
            <a:r>
              <a:rPr sz="2400" dirty="0"/>
              <a:t>Goal: Validate correct behavior on a boundary condition just above underflow.</a:t>
            </a:r>
          </a:p>
          <a:p>
            <a:pPr>
              <a:defRPr sz="1500"/>
            </a:pPr>
            <a:r>
              <a:rPr sz="2400" dirty="0"/>
              <a:t>Method: For signed: start = min(T) + 1; decrement = 1; steps = 1. For unsigned: start = 1.</a:t>
            </a:r>
          </a:p>
          <a:p>
            <a:pPr>
              <a:defRPr sz="1500"/>
            </a:pPr>
            <a:r>
              <a:rPr sz="2400" dirty="0"/>
              <a:t>Expected: Success; result equals min(T) (or 0 for unsigned). No underflow flag.</a:t>
            </a:r>
          </a:p>
          <a:p>
            <a:pPr>
              <a:defRPr sz="1500"/>
            </a:pPr>
            <a:r>
              <a:rPr sz="2400" dirty="0"/>
              <a:t>Step further: Add a paired test with steps = 2 (should fail).</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AUTOMATION SUMMARY</a:t>
            </a:r>
            <a:endParaRPr/>
          </a:p>
        </p:txBody>
      </p:sp>
      <p:pic>
        <p:nvPicPr>
          <p:cNvPr id="203" name="Google Shape;203;p9" descr="DevSec Ops Toolchain Diagram&#10;Graphical representation of the automation process used in the enforcement and compliance of the Security Policy Standards.&#10;The illustration shows a figure eight or infinity symbol to illustrate that the cycle of development is continuous. It starts with assessing and planning, to designing and building with DevSecOps in the center of the continuous loop to maintain system integrity and then make additional changes to make it more secure."/>
          <p:cNvPicPr preferRelativeResize="0">
            <a:picLocks noGrp="1"/>
          </p:cNvPicPr>
          <p:nvPr>
            <p:ph type="body" idx="1"/>
          </p:nvPr>
        </p:nvPicPr>
        <p:blipFill rotWithShape="1">
          <a:blip r:embed="rId4">
            <a:alphaModFix/>
          </a:blip>
          <a:srcRect/>
          <a:stretch/>
        </p:blipFill>
        <p:spPr>
          <a:xfrm>
            <a:off x="426720" y="2080427"/>
            <a:ext cx="6565900" cy="4013200"/>
          </a:xfrm>
          <a:prstGeom prst="rect">
            <a:avLst/>
          </a:prstGeom>
          <a:noFill/>
          <a:ln>
            <a:noFill/>
          </a:ln>
        </p:spPr>
      </p:pic>
      <p:pic>
        <p:nvPicPr>
          <p:cNvPr id="204" name="Google Shape;204;p9" descr="Green Pace logo"/>
          <p:cNvPicPr preferRelativeResize="0"/>
          <p:nvPr/>
        </p:nvPicPr>
        <p:blipFill>
          <a:blip r:embed="rId5">
            <a:alphaModFix/>
          </a:blip>
          <a:stretch>
            <a:fillRect/>
          </a:stretch>
        </p:blipFill>
        <p:spPr>
          <a:xfrm>
            <a:off x="11084074" y="5440526"/>
            <a:ext cx="886601" cy="1149225"/>
          </a:xfrm>
          <a:prstGeom prst="rect">
            <a:avLst/>
          </a:prstGeom>
          <a:noFill/>
          <a:ln>
            <a:noFill/>
          </a:ln>
        </p:spPr>
      </p:pic>
      <p:sp>
        <p:nvSpPr>
          <p:cNvPr id="205" name="TextBox 204"/>
          <p:cNvSpPr txBox="1"/>
          <p:nvPr/>
        </p:nvSpPr>
        <p:spPr>
          <a:xfrm>
            <a:off x="7154778" y="2080427"/>
            <a:ext cx="4351421" cy="3554819"/>
          </a:xfrm>
          <a:prstGeom prst="rect">
            <a:avLst/>
          </a:prstGeom>
          <a:noFill/>
        </p:spPr>
        <p:txBody>
          <a:bodyPr wrap="square">
            <a:spAutoFit/>
          </a:bodyPr>
          <a:lstStyle/>
          <a:p>
            <a:pPr>
              <a:defRPr sz="1500"/>
            </a:pPr>
            <a:r>
              <a:rPr dirty="0">
                <a:solidFill>
                  <a:schemeClr val="bg1"/>
                </a:solidFill>
                <a:latin typeface="Century Gothic" panose="020B0502020202020204" pitchFamily="34" charset="0"/>
              </a:rPr>
              <a:t>Plan: Threat modeling + security requirements; track security debt and metrics.</a:t>
            </a:r>
          </a:p>
          <a:p>
            <a:pPr>
              <a:defRPr sz="1500"/>
            </a:pPr>
            <a:r>
              <a:rPr dirty="0">
                <a:solidFill>
                  <a:schemeClr val="bg1"/>
                </a:solidFill>
                <a:latin typeface="Century Gothic" panose="020B0502020202020204" pitchFamily="34" charset="0"/>
              </a:rPr>
              <a:t>Create: IDE security plugins; compiler warnings-as-errors; secure code templates.</a:t>
            </a:r>
          </a:p>
          <a:p>
            <a:pPr>
              <a:defRPr sz="1500"/>
            </a:pPr>
            <a:r>
              <a:rPr dirty="0">
                <a:solidFill>
                  <a:schemeClr val="bg1"/>
                </a:solidFill>
                <a:latin typeface="Century Gothic" panose="020B0502020202020204" pitchFamily="34" charset="0"/>
              </a:rPr>
              <a:t>Verify (CI): SAST (SonarQube/</a:t>
            </a:r>
            <a:r>
              <a:rPr dirty="0" err="1">
                <a:solidFill>
                  <a:schemeClr val="bg1"/>
                </a:solidFill>
                <a:latin typeface="Century Gothic" panose="020B0502020202020204" pitchFamily="34" charset="0"/>
              </a:rPr>
              <a:t>CodeQL</a:t>
            </a:r>
            <a:r>
              <a:rPr dirty="0">
                <a:solidFill>
                  <a:schemeClr val="bg1"/>
                </a:solidFill>
                <a:latin typeface="Century Gothic" panose="020B0502020202020204" pitchFamily="34" charset="0"/>
              </a:rPr>
              <a:t>), SCA (dependency scanning), and unit tests (Google Test).</a:t>
            </a:r>
          </a:p>
          <a:p>
            <a:pPr>
              <a:defRPr sz="1500"/>
            </a:pPr>
            <a:r>
              <a:rPr dirty="0">
                <a:solidFill>
                  <a:schemeClr val="bg1"/>
                </a:solidFill>
                <a:latin typeface="Century Gothic" panose="020B0502020202020204" pitchFamily="34" charset="0"/>
              </a:rPr>
              <a:t>Pre‑Production: DAST (OWASP ZAP) and input fuzzing; run sanitizers (</a:t>
            </a:r>
            <a:r>
              <a:rPr dirty="0" err="1">
                <a:solidFill>
                  <a:schemeClr val="bg1"/>
                </a:solidFill>
                <a:latin typeface="Century Gothic" panose="020B0502020202020204" pitchFamily="34" charset="0"/>
              </a:rPr>
              <a:t>ASan</a:t>
            </a:r>
            <a:r>
              <a:rPr dirty="0">
                <a:solidFill>
                  <a:schemeClr val="bg1"/>
                </a:solidFill>
                <a:latin typeface="Century Gothic" panose="020B0502020202020204" pitchFamily="34" charset="0"/>
              </a:rPr>
              <a:t>/</a:t>
            </a:r>
            <a:r>
              <a:rPr dirty="0" err="1">
                <a:solidFill>
                  <a:schemeClr val="bg1"/>
                </a:solidFill>
                <a:latin typeface="Century Gothic" panose="020B0502020202020204" pitchFamily="34" charset="0"/>
              </a:rPr>
              <a:t>UBSan</a:t>
            </a:r>
            <a:r>
              <a:rPr dirty="0">
                <a:solidFill>
                  <a:schemeClr val="bg1"/>
                </a:solidFill>
                <a:latin typeface="Century Gothic" panose="020B0502020202020204" pitchFamily="34" charset="0"/>
              </a:rPr>
              <a:t>).</a:t>
            </a:r>
          </a:p>
          <a:p>
            <a:pPr>
              <a:defRPr sz="1500"/>
            </a:pPr>
            <a:r>
              <a:rPr dirty="0">
                <a:solidFill>
                  <a:schemeClr val="bg1"/>
                </a:solidFill>
                <a:latin typeface="Century Gothic" panose="020B0502020202020204" pitchFamily="34" charset="0"/>
              </a:rPr>
              <a:t>Release/Prevent: Artifact signing + integrity checks; enforce policy gates before deploy.</a:t>
            </a:r>
          </a:p>
          <a:p>
            <a:pPr>
              <a:defRPr sz="1500"/>
            </a:pPr>
            <a:r>
              <a:rPr dirty="0">
                <a:solidFill>
                  <a:schemeClr val="bg1"/>
                </a:solidFill>
                <a:latin typeface="Century Gothic" panose="020B0502020202020204" pitchFamily="34" charset="0"/>
              </a:rPr>
              <a:t>Detect/Respond: Centralized logging, alerting, and incident playbooks; periodic penetration tests.</a:t>
            </a:r>
          </a:p>
        </p:txBody>
      </p:sp>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10"/>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TOOLS</a:t>
            </a:r>
            <a:endParaRPr/>
          </a:p>
        </p:txBody>
      </p:sp>
      <p:sp>
        <p:nvSpPr>
          <p:cNvPr id="210" name="Google Shape;210;p10"/>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742950" indent="-285750">
              <a:spcBef>
                <a:spcPts val="0"/>
              </a:spcBef>
              <a:buSzPts val="2000"/>
              <a:defRPr sz="1500"/>
            </a:pPr>
            <a:r>
              <a:rPr sz="1600" dirty="0"/>
              <a:t>Compiler/IDE: MSVC warnings + Code Analysis (/analyze) to catch common C/C++ defects early. (Microsoft, 2025)</a:t>
            </a:r>
            <a:endParaRPr lang="en-US" sz="1800" dirty="0"/>
          </a:p>
          <a:p>
            <a:pPr marL="742950" indent="-285750">
              <a:spcBef>
                <a:spcPts val="0"/>
              </a:spcBef>
              <a:buSzPts val="2000"/>
              <a:defRPr sz="1500"/>
            </a:pPr>
            <a:endParaRPr lang="en-US" sz="1800" dirty="0"/>
          </a:p>
          <a:p>
            <a:pPr marL="742950" indent="-285750">
              <a:spcBef>
                <a:spcPts val="0"/>
              </a:spcBef>
              <a:buSzPts val="2000"/>
              <a:defRPr sz="1500"/>
            </a:pPr>
            <a:r>
              <a:rPr sz="1600" dirty="0"/>
              <a:t>SAST: SonarQube rules for injection, unsafe APIs, and error handling; gate merges on new critical issues. (</a:t>
            </a:r>
            <a:r>
              <a:rPr sz="1600" dirty="0" err="1"/>
              <a:t>SonarSource</a:t>
            </a:r>
            <a:r>
              <a:rPr sz="1600" dirty="0"/>
              <a:t>, n.d.)</a:t>
            </a:r>
            <a:endParaRPr lang="en-US" sz="1600" dirty="0"/>
          </a:p>
          <a:p>
            <a:pPr marL="742950" indent="-285750">
              <a:spcBef>
                <a:spcPts val="0"/>
              </a:spcBef>
              <a:buSzPts val="2000"/>
              <a:defRPr sz="1500"/>
            </a:pPr>
            <a:endParaRPr lang="en-US" sz="1600" dirty="0"/>
          </a:p>
          <a:p>
            <a:pPr marL="742950" indent="-285750">
              <a:spcBef>
                <a:spcPts val="0"/>
              </a:spcBef>
              <a:buSzPts val="2000"/>
              <a:defRPr sz="1500"/>
            </a:pPr>
            <a:r>
              <a:rPr sz="1600" dirty="0"/>
              <a:t>SCA: Dependency scanning for vulnerable libraries; generate SBOMs for auditability. (NIST SSDF, 2022</a:t>
            </a:r>
            <a:r>
              <a:rPr lang="en-US" sz="1600" dirty="0"/>
              <a:t>)</a:t>
            </a:r>
          </a:p>
          <a:p>
            <a:pPr marL="742950" indent="-285750">
              <a:spcBef>
                <a:spcPts val="0"/>
              </a:spcBef>
              <a:buSzPts val="2000"/>
              <a:defRPr sz="1500"/>
            </a:pPr>
            <a:endParaRPr lang="en-US" sz="1600" dirty="0"/>
          </a:p>
          <a:p>
            <a:pPr marL="742950" indent="-285750">
              <a:spcBef>
                <a:spcPts val="0"/>
              </a:spcBef>
              <a:buSzPts val="2000"/>
              <a:defRPr sz="1500"/>
            </a:pPr>
            <a:r>
              <a:rPr lang="en-US" sz="1600" dirty="0"/>
              <a:t>Static bug finding: </a:t>
            </a:r>
            <a:r>
              <a:rPr lang="en-US" sz="1600" dirty="0" err="1"/>
              <a:t>Cppcheck</a:t>
            </a:r>
            <a:r>
              <a:rPr lang="en-US" sz="1600" dirty="0"/>
              <a:t> for additional patterns and XML reporting for CI dashboards. (</a:t>
            </a:r>
            <a:r>
              <a:rPr lang="en-US" sz="1600" dirty="0" err="1"/>
              <a:t>Cppcheck</a:t>
            </a:r>
            <a:r>
              <a:rPr lang="en-US" sz="1600" dirty="0"/>
              <a:t>, n.d.)</a:t>
            </a:r>
          </a:p>
          <a:p>
            <a:pPr marL="742950" indent="-285750">
              <a:spcBef>
                <a:spcPts val="0"/>
              </a:spcBef>
              <a:buSzPts val="2000"/>
              <a:defRPr sz="1500"/>
            </a:pPr>
            <a:endParaRPr lang="en-US" sz="1600" dirty="0"/>
          </a:p>
          <a:p>
            <a:pPr marL="742950" indent="-285750">
              <a:spcBef>
                <a:spcPts val="0"/>
              </a:spcBef>
              <a:buSzPts val="2000"/>
              <a:defRPr sz="1500"/>
            </a:pPr>
            <a:r>
              <a:rPr sz="1600" dirty="0"/>
              <a:t>DAST: OWASP ZAP for web scanning in a staging environment; focus on auth, injection, and misconfigurations. (OWASP, n.d.)</a:t>
            </a:r>
            <a:endParaRPr lang="en-US" sz="1600" dirty="0"/>
          </a:p>
          <a:p>
            <a:pPr marL="742950" indent="-285750">
              <a:spcBef>
                <a:spcPts val="0"/>
              </a:spcBef>
              <a:buSzPts val="2000"/>
              <a:defRPr sz="1500"/>
            </a:pPr>
            <a:endParaRPr lang="en-US" sz="1600" dirty="0"/>
          </a:p>
          <a:p>
            <a:pPr marL="742950" indent="-285750">
              <a:spcBef>
                <a:spcPts val="0"/>
              </a:spcBef>
              <a:buSzPts val="2000"/>
              <a:defRPr sz="1500"/>
            </a:pPr>
            <a:r>
              <a:rPr sz="1600" dirty="0"/>
              <a:t>Runtime hardening: </a:t>
            </a:r>
            <a:r>
              <a:rPr sz="1600" dirty="0" err="1"/>
              <a:t>AddressSanitizer</a:t>
            </a:r>
            <a:r>
              <a:rPr sz="1600" dirty="0"/>
              <a:t>/</a:t>
            </a:r>
            <a:r>
              <a:rPr sz="1600" dirty="0" err="1"/>
              <a:t>UndefinedBehaviorSanitizer</a:t>
            </a:r>
            <a:r>
              <a:rPr sz="1600" dirty="0"/>
              <a:t> in test builds; WAF/RASP plus monitoring in production.</a:t>
            </a:r>
          </a:p>
        </p:txBody>
      </p:sp>
      <p:pic>
        <p:nvPicPr>
          <p:cNvPr id="211" name="Google Shape;211;p10"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1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RISKS AND BENEFITS</a:t>
            </a:r>
            <a:endParaRPr/>
          </a:p>
        </p:txBody>
      </p:sp>
      <p:sp>
        <p:nvSpPr>
          <p:cNvPr id="217" name="Google Shape;217;p11"/>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285750" indent="-285750">
              <a:spcBef>
                <a:spcPts val="0"/>
              </a:spcBef>
              <a:buSzPts val="2000"/>
              <a:defRPr sz="1500"/>
            </a:pPr>
            <a:r>
              <a:rPr sz="1600" dirty="0"/>
              <a:t>Act now (benefits): Blocks high‑impact issues before release (injection, auth bypass, memory corruption). Reduces breach likelihood and lowers remediation cost compared to post‑incident fixes.</a:t>
            </a:r>
            <a:endParaRPr lang="en-US" sz="1600" dirty="0"/>
          </a:p>
          <a:p>
            <a:pPr marL="285750" indent="-285750">
              <a:spcBef>
                <a:spcPts val="0"/>
              </a:spcBef>
              <a:buSzPts val="2000"/>
              <a:defRPr sz="1500"/>
            </a:pPr>
            <a:endParaRPr lang="en-US" sz="1600" dirty="0"/>
          </a:p>
          <a:p>
            <a:pPr marL="285750" indent="-285750">
              <a:spcBef>
                <a:spcPts val="0"/>
              </a:spcBef>
              <a:buSzPts val="2000"/>
              <a:defRPr sz="1500"/>
            </a:pPr>
            <a:r>
              <a:rPr sz="1600" dirty="0"/>
              <a:t>Act now (risks): Tooling can add friction (false positives, longer CI). Mitigate with tuned rule sets and a triage workflow</a:t>
            </a:r>
            <a:r>
              <a:rPr lang="en-US" sz="1600" dirty="0"/>
              <a:t>.</a:t>
            </a:r>
          </a:p>
          <a:p>
            <a:pPr marL="285750" indent="-285750">
              <a:spcBef>
                <a:spcPts val="0"/>
              </a:spcBef>
              <a:buSzPts val="2000"/>
              <a:defRPr sz="1500"/>
            </a:pPr>
            <a:endParaRPr lang="en-US" sz="1600" dirty="0"/>
          </a:p>
          <a:p>
            <a:pPr marL="285750" indent="-285750">
              <a:spcBef>
                <a:spcPts val="0"/>
              </a:spcBef>
              <a:buSzPts val="2000"/>
              <a:defRPr sz="1500"/>
            </a:pPr>
            <a:r>
              <a:rPr sz="1600" dirty="0"/>
              <a:t>Wait (short‑term benefit): Faster feature delivery today.</a:t>
            </a:r>
            <a:endParaRPr lang="en-US" sz="1600" dirty="0"/>
          </a:p>
          <a:p>
            <a:pPr marL="285750" indent="-285750">
              <a:spcBef>
                <a:spcPts val="0"/>
              </a:spcBef>
              <a:buSzPts val="2000"/>
              <a:defRPr sz="1500"/>
            </a:pPr>
            <a:endParaRPr lang="en-US" sz="1600" dirty="0"/>
          </a:p>
          <a:p>
            <a:pPr marL="285750" indent="-285750">
              <a:spcBef>
                <a:spcPts val="0"/>
              </a:spcBef>
              <a:buSzPts val="2000"/>
              <a:defRPr sz="1500"/>
            </a:pPr>
            <a:r>
              <a:rPr sz="1600" dirty="0"/>
              <a:t>Wait (risks): Technical security debt accumulates; a single exploit can cause credential exposure, regulatory penalties, and reputational damage.</a:t>
            </a:r>
            <a:endParaRPr lang="en-US" sz="1600" dirty="0"/>
          </a:p>
          <a:p>
            <a:pPr marL="285750" indent="-285750">
              <a:spcBef>
                <a:spcPts val="0"/>
              </a:spcBef>
              <a:buSzPts val="2000"/>
              <a:defRPr sz="1500"/>
            </a:pPr>
            <a:endParaRPr lang="en-US" sz="1600" dirty="0"/>
          </a:p>
          <a:p>
            <a:pPr marL="285750" indent="-285750">
              <a:spcBef>
                <a:spcPts val="0"/>
              </a:spcBef>
              <a:buSzPts val="2000"/>
              <a:defRPr sz="1500"/>
            </a:pPr>
            <a:r>
              <a:rPr sz="1600" dirty="0"/>
              <a:t>Strategy gaps to address: secret management, dependency governance, and consistent logging/audit trails across services.</a:t>
            </a:r>
            <a:endParaRPr lang="en-US" sz="1600" dirty="0"/>
          </a:p>
          <a:p>
            <a:pPr marL="285750" indent="-285750">
              <a:spcBef>
                <a:spcPts val="0"/>
              </a:spcBef>
              <a:buSzPts val="2000"/>
              <a:defRPr sz="1500"/>
            </a:pPr>
            <a:endParaRPr lang="en-US" sz="1600" dirty="0"/>
          </a:p>
          <a:p>
            <a:pPr marL="285750" indent="-285750">
              <a:spcBef>
                <a:spcPts val="0"/>
              </a:spcBef>
              <a:buSzPts val="2000"/>
              <a:defRPr sz="1500"/>
            </a:pPr>
            <a:r>
              <a:rPr sz="1600" dirty="0"/>
              <a:t>Immediate priorities: 1) SQL injection + input validation + authorization (Levels 5), 2) memory safety + overflow checks (Level 4), 3) strengthen logging and exception hygiene.</a:t>
            </a:r>
          </a:p>
        </p:txBody>
      </p:sp>
      <p:pic>
        <p:nvPicPr>
          <p:cNvPr id="218" name="Google Shape;218;p11"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2"/>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RECOMMENDATIONS</a:t>
            </a:r>
            <a:endParaRPr/>
          </a:p>
        </p:txBody>
      </p:sp>
      <p:sp>
        <p:nvSpPr>
          <p:cNvPr id="224" name="Google Shape;224;p12"/>
          <p:cNvSpPr txBox="1">
            <a:spLocks noGrp="1"/>
          </p:cNvSpPr>
          <p:nvPr>
            <p:ph type="body" idx="1"/>
          </p:nvPr>
        </p:nvSpPr>
        <p:spPr>
          <a:xfrm>
            <a:off x="449179" y="2057402"/>
            <a:ext cx="11057021" cy="4161284"/>
          </a:xfrm>
          <a:prstGeom prst="rect">
            <a:avLst/>
          </a:prstGeom>
          <a:noFill/>
          <a:ln>
            <a:noFill/>
          </a:ln>
        </p:spPr>
        <p:txBody>
          <a:bodyPr spcFirstLastPara="1" wrap="square" lIns="91425" tIns="45700" rIns="91425" bIns="45700" anchor="t" anchorCtr="0">
            <a:normAutofit/>
          </a:bodyPr>
          <a:lstStyle/>
          <a:p>
            <a:pPr marL="1200150" indent="-285750">
              <a:spcBef>
                <a:spcPts val="0"/>
              </a:spcBef>
              <a:defRPr sz="1500"/>
            </a:pPr>
            <a:r>
              <a:rPr sz="1600" dirty="0"/>
              <a:t>Close current gaps: add explicit secrets management (no secrets in code, rotate keys, use vault/KMS) and require encryption policy checks in CI.</a:t>
            </a:r>
            <a:endParaRPr lang="en-US" sz="1600" dirty="0"/>
          </a:p>
          <a:p>
            <a:pPr marL="1200150" indent="-285750">
              <a:spcBef>
                <a:spcPts val="0"/>
              </a:spcBef>
              <a:defRPr sz="1500"/>
            </a:pPr>
            <a:endParaRPr lang="en-US" sz="1600" dirty="0"/>
          </a:p>
          <a:p>
            <a:pPr marL="1200150" indent="-285750">
              <a:spcBef>
                <a:spcPts val="0"/>
              </a:spcBef>
              <a:defRPr sz="1500"/>
            </a:pPr>
            <a:r>
              <a:rPr sz="1600" dirty="0"/>
              <a:t>Expand standards: adopt secure build requirements (signed artifacts, provenance), dependency/SBOM policies, and secure logging requirements (PII redaction).</a:t>
            </a:r>
            <a:endParaRPr lang="en-US" sz="1600" dirty="0"/>
          </a:p>
          <a:p>
            <a:pPr marL="1200150" indent="-285750">
              <a:spcBef>
                <a:spcPts val="0"/>
              </a:spcBef>
              <a:defRPr sz="1500"/>
            </a:pPr>
            <a:endParaRPr lang="en-US" sz="1600" dirty="0"/>
          </a:p>
          <a:p>
            <a:pPr marL="1200150" indent="-285750">
              <a:spcBef>
                <a:spcPts val="0"/>
              </a:spcBef>
              <a:defRPr sz="1500"/>
            </a:pPr>
            <a:r>
              <a:rPr sz="1600" dirty="0"/>
              <a:t>Improve testing depth: add fuzzing and sanitizer runs to pre‑production; add regression tests for each fixed vulnerability.</a:t>
            </a:r>
            <a:endParaRPr lang="en-US" sz="1600" dirty="0"/>
          </a:p>
          <a:p>
            <a:pPr marL="1200150" indent="-285750">
              <a:spcBef>
                <a:spcPts val="0"/>
              </a:spcBef>
              <a:defRPr sz="1500"/>
            </a:pPr>
            <a:endParaRPr lang="en-US" sz="1600" dirty="0"/>
          </a:p>
          <a:p>
            <a:pPr marL="1200150" indent="-285750">
              <a:spcBef>
                <a:spcPts val="0"/>
              </a:spcBef>
              <a:defRPr sz="1500"/>
            </a:pPr>
            <a:r>
              <a:rPr sz="1600" dirty="0"/>
              <a:t>Operationalize governance: define an exception process for policy waivers with time‑boxed remediation; track security debt like any other backlog item.</a:t>
            </a:r>
            <a:endParaRPr lang="en-US" sz="1600" dirty="0"/>
          </a:p>
          <a:p>
            <a:pPr marL="1200150" indent="-285750">
              <a:spcBef>
                <a:spcPts val="0"/>
              </a:spcBef>
              <a:defRPr sz="1500"/>
            </a:pPr>
            <a:endParaRPr lang="en-US" sz="1600" dirty="0"/>
          </a:p>
          <a:p>
            <a:pPr marL="1200150" indent="-285750">
              <a:spcBef>
                <a:spcPts val="0"/>
              </a:spcBef>
              <a:defRPr sz="1500"/>
            </a:pPr>
            <a:r>
              <a:rPr sz="1600" dirty="0"/>
              <a:t>Future threats: focus on supply‑chain attacks, auth token theft, and insecure defaults in new services; keep rulesets and training updated quarterly.</a:t>
            </a:r>
          </a:p>
        </p:txBody>
      </p:sp>
      <p:pic>
        <p:nvPicPr>
          <p:cNvPr id="225" name="Google Shape;225;p12"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13"/>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CONCLUSIONS</a:t>
            </a:r>
            <a:endParaRPr/>
          </a:p>
        </p:txBody>
      </p:sp>
      <p:sp>
        <p:nvSpPr>
          <p:cNvPr id="231" name="Google Shape;231;p13"/>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285750" indent="-285750">
              <a:spcBef>
                <a:spcPts val="0"/>
              </a:spcBef>
              <a:buSzPts val="2200"/>
              <a:defRPr sz="1600"/>
            </a:pPr>
            <a:r>
              <a:rPr sz="2000" dirty="0"/>
              <a:t>Adopt and enforce the 10 secure coding standards as CI gates aligned to SEI CERT C++ guidance.</a:t>
            </a:r>
            <a:endParaRPr lang="en-US" sz="2400" dirty="0"/>
          </a:p>
          <a:p>
            <a:pPr marL="285750" indent="-285750">
              <a:spcBef>
                <a:spcPts val="0"/>
              </a:spcBef>
              <a:buSzPts val="2200"/>
              <a:defRPr sz="1600"/>
            </a:pPr>
            <a:endParaRPr lang="en-US" sz="2400" dirty="0"/>
          </a:p>
          <a:p>
            <a:pPr marL="285750" indent="-285750">
              <a:spcBef>
                <a:spcPts val="0"/>
              </a:spcBef>
              <a:buSzPts val="2200"/>
              <a:defRPr sz="1600"/>
            </a:pPr>
            <a:r>
              <a:rPr sz="2000" dirty="0"/>
              <a:t>Treat security as a first‑class pipeline function: automate detection early (IDE/SAST/SCA), validate later (DAST/fuzzing), and monitor always (logging/alerts).</a:t>
            </a:r>
            <a:endParaRPr lang="en-US" sz="2000" dirty="0"/>
          </a:p>
          <a:p>
            <a:pPr marL="285750" indent="-285750">
              <a:spcBef>
                <a:spcPts val="0"/>
              </a:spcBef>
              <a:buSzPts val="2200"/>
              <a:defRPr sz="1600"/>
            </a:pPr>
            <a:endParaRPr lang="en-US" sz="2000" dirty="0"/>
          </a:p>
          <a:p>
            <a:pPr marL="285750" indent="-285750">
              <a:spcBef>
                <a:spcPts val="0"/>
              </a:spcBef>
              <a:buSzPts val="2200"/>
              <a:defRPr sz="1600"/>
            </a:pPr>
            <a:r>
              <a:rPr sz="2000" dirty="0"/>
              <a:t>Prioritize Level‑5 standards (SQL injection, input validation, authorization) and maintain a continuous risk review as the system evolves.</a:t>
            </a:r>
            <a:endParaRPr lang="en-US" sz="2000" dirty="0"/>
          </a:p>
          <a:p>
            <a:pPr marL="285750" indent="-285750">
              <a:spcBef>
                <a:spcPts val="0"/>
              </a:spcBef>
              <a:buSzPts val="2200"/>
              <a:defRPr sz="1600"/>
            </a:pPr>
            <a:endParaRPr lang="en-US" sz="2000" dirty="0"/>
          </a:p>
          <a:p>
            <a:pPr marL="285750" indent="-285750">
              <a:spcBef>
                <a:spcPts val="0"/>
              </a:spcBef>
              <a:buSzPts val="2200"/>
              <a:defRPr sz="1600"/>
            </a:pPr>
            <a:r>
              <a:rPr sz="2000" dirty="0"/>
              <a:t>Result: a repeatable, auditable security posture that supports defense in depth and reduces the probability and impact of future incidents.</a:t>
            </a:r>
          </a:p>
        </p:txBody>
      </p:sp>
      <p:pic>
        <p:nvPicPr>
          <p:cNvPr id="232" name="Google Shape;232;p13"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14"/>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REFERENCES</a:t>
            </a:r>
            <a:endParaRPr/>
          </a:p>
        </p:txBody>
      </p:sp>
      <p:sp>
        <p:nvSpPr>
          <p:cNvPr id="238" name="Google Shape;238;p14"/>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chemeClr val="lt1"/>
              </a:buClr>
              <a:buSzPts val="2200"/>
              <a:buChar char="•"/>
            </a:pPr>
            <a:r>
              <a:rPr sz="1600" dirty="0"/>
              <a:t>National Institute of Standards and Technology. (2022). Secure Software Development Framework (SSDF) Version 1.1 (SP 800-218). https://csrc.nist.gov/pubs/sp/800/218/final
National Institute of Standards and Technology. (2019). Guidelines for the Selection, Configuration, and Use of Transport Layer Security (TLS) Implementations (SP 800-52 Rev. 2). https://csrc.nist.gov/pubs/sp/800/52/r2/final
OWASP Foundation. (n.d.). SQL Injection Prevention Cheat Sheet. https://cheatsheetseries.owasp.org/cheatsheets/SQL_Injection_Prevention_Cheat_Sheet.html
OWASP Foundation. (n.d.). Authentication Cheat Sheet. https://cheatsheetseries.owasp.org/cheatsheets/Authentication_Cheat_Sheet.html
OWASP Foundation. (n.d.). Authorization Cheat Sheet. https://cheatsheetseries.owasp.org/cheatsheets/Authorization_Cheat_Sheet.html
SEI CERT. (n.d.). SEI CERT C++ Coding Standard. https://wiki.sei.cmu.edu/confluence/spaces/cplusplus/overview
</a:t>
            </a:r>
            <a:r>
              <a:rPr sz="1600" dirty="0" err="1"/>
              <a:t>SonarSource</a:t>
            </a:r>
            <a:r>
              <a:rPr sz="1600" dirty="0"/>
              <a:t>. (n.d.). Security-related rules | SonarQube Server documentation. https://docs.sonarsource.com/sonarqube-server/quality-standards-administration/managing-rules/security-related-rules
</a:t>
            </a:r>
            <a:r>
              <a:rPr sz="1600" dirty="0" err="1"/>
              <a:t>Cppcheck</a:t>
            </a:r>
            <a:r>
              <a:rPr sz="1600" dirty="0"/>
              <a:t>. (n.d.). Manual (XML output). https://cppcheck.sourceforge.io/manual.html
Microsoft. (n.d.). C/C++ Code Analysis in Visual Studio (/analyze). https://learn.microsoft.com/cpp/code-quality/code-analysis-for-c-cpp-overview</a:t>
            </a:r>
            <a:endParaRPr sz="4000" dirty="0"/>
          </a:p>
        </p:txBody>
      </p:sp>
      <p:pic>
        <p:nvPicPr>
          <p:cNvPr id="239" name="Google Shape;239;p14"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14"/>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Vapor Trail">
  <a:themeElements>
    <a:clrScheme name="Vapor Trail">
      <a:dk1>
        <a:srgbClr val="000000"/>
      </a:dk1>
      <a:lt1>
        <a:srgbClr val="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9267F6D1A260A4394C18F5AF72445EA" ma:contentTypeVersion="3" ma:contentTypeDescription="Create a new document." ma:contentTypeScope="" ma:versionID="d6a723735a0ade9a92961b83aee31dda">
  <xsd:schema xmlns:xsd="http://www.w3.org/2001/XMLSchema" xmlns:xs="http://www.w3.org/2001/XMLSchema" xmlns:p="http://schemas.microsoft.com/office/2006/metadata/properties" targetNamespace="http://schemas.microsoft.com/office/2006/metadata/properties" ma:root="true" ma:fieldsID="e345bd7673956a623930e5662e321f3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4"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398236C-7FA9-40C9-B456-AA158A506A32}">
  <ds:schemaRefs>
    <ds:schemaRef ds:uri="http://schemas.microsoft.com/sharepoint/v3/contenttype/forms"/>
  </ds:schemaRefs>
</ds:datastoreItem>
</file>

<file path=customXml/itemProps2.xml><?xml version="1.0" encoding="utf-8"?>
<ds:datastoreItem xmlns:ds="http://schemas.openxmlformats.org/officeDocument/2006/customXml" ds:itemID="{3DB4D054-FC38-43E0-B24C-8E3420B75B8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3E9B35DD-16B6-4415-A905-CDACA4FC6DBE}">
  <ds:schemaRefs>
    <ds:schemaRef ds:uri="http://schemas.openxmlformats.org/package/2006/metadata/core-properties"/>
    <ds:schemaRef ds:uri="http://www.w3.org/XML/1998/namespace"/>
    <ds:schemaRef ds:uri="http://schemas.microsoft.com/office/2006/documentManagement/types"/>
    <ds:schemaRef ds:uri="http://purl.org/dc/elements/1.1/"/>
    <ds:schemaRef ds:uri="http://purl.org/dc/dcmitype/"/>
    <ds:schemaRef ds:uri="http://schemas.microsoft.com/office/2006/metadata/properties"/>
    <ds:schemaRef ds:uri="http://schemas.microsoft.com/office/infopath/2007/PartnerControls"/>
    <ds:schemaRef ds:uri="http://purl.org/dc/terms/"/>
  </ds:schemaRefs>
</ds:datastoreItem>
</file>

<file path=docProps/app.xml><?xml version="1.0" encoding="utf-8"?>
<Properties xmlns="http://schemas.openxmlformats.org/officeDocument/2006/extended-properties" xmlns:vt="http://schemas.openxmlformats.org/officeDocument/2006/docPropsVTypes">
  <TotalTime>84</TotalTime>
  <Words>2216</Words>
  <Application>Microsoft Office PowerPoint</Application>
  <PresentationFormat>Widescreen</PresentationFormat>
  <Paragraphs>140</Paragraphs>
  <Slides>20</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Century Gothic</vt:lpstr>
      <vt:lpstr>Arial</vt:lpstr>
      <vt:lpstr>Vapor Trail</vt:lpstr>
      <vt:lpstr>Green Pace</vt:lpstr>
      <vt:lpstr>OVERVIEW: DEFENSE IN DEPTH</vt:lpstr>
      <vt:lpstr>THREATS MATRIX</vt:lpstr>
      <vt:lpstr>10 PRINCIPLES</vt:lpstr>
      <vt:lpstr>CODING STANDARDS</vt:lpstr>
      <vt:lpstr>ENCRYPTION POLICIES</vt:lpstr>
      <vt:lpstr>TRIPLE-A POLICIES</vt:lpstr>
      <vt:lpstr>Unit Testing</vt:lpstr>
      <vt:lpstr>Unit Test 1: AddNumbers_NoOverflow_ReturnsExpected</vt:lpstr>
      <vt:lpstr>Unit Test 2: AddNumbers_Overflow_ReturnsFailure (Negative)</vt:lpstr>
      <vt:lpstr>Unit Test 3: SubtractNumbers_NoUnderflow_ReturnsExpected</vt:lpstr>
      <vt:lpstr>Unit Test 4: SubtractNumbers_Underflow_ReturnsFailure (Negative)</vt:lpstr>
      <vt:lpstr>Unit Test 5: AddNumbers_Boundary_MaxMinus1Plus1</vt:lpstr>
      <vt:lpstr>Unit Test 6: SubtractNumbers_Boundary_MinPlus1Minus1</vt:lpstr>
      <vt:lpstr>AUTOMATION SUMMARY</vt:lpstr>
      <vt:lpstr>TOOLS</vt:lpstr>
      <vt:lpstr>RISKS AND BENEFITS</vt:lpstr>
      <vt:lpstr>RECOMMENDATIONS</vt:lpstr>
      <vt:lpstr>CONCLUSIONS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405 Project Two Presentation Template</dc:title>
  <dc:creator>Kathy Shields</dc:creator>
  <cp:lastModifiedBy>Shauntel Hall</cp:lastModifiedBy>
  <cp:revision>5</cp:revision>
  <dcterms:created xsi:type="dcterms:W3CDTF">2020-08-19T17:59:24Z</dcterms:created>
  <dcterms:modified xsi:type="dcterms:W3CDTF">2026-02-20T00:26:50Z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DA78308B-55B0-44AB-B406-C6A80F5E53EB</vt:lpwstr>
  </property>
  <property fmtid="{D5CDD505-2E9C-101B-9397-08002B2CF9AE}" pid="3" name="ArticulatePath">
    <vt:lpwstr>CS 405 P2 Presentation Template</vt:lpwstr>
  </property>
  <property fmtid="{D5CDD505-2E9C-101B-9397-08002B2CF9AE}" pid="4" name="ContentTypeId">
    <vt:lpwstr>0x01010019267F6D1A260A4394C18F5AF72445EA</vt:lpwstr>
  </property>
</Properties>
</file>